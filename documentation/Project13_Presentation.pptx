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B7D6E7E-6F7F-4365-AC88-4896AF127F0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the project: low-power timekeeping using ATmega32 Timer2 in asynchronous mode with a 32.768 kHz watch crystal. The big idea is that Timer2 can run from its own independent clock while the CPU sleeps.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1516F8B-4109-44E9-AEEE-09734910F5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core insight: every battery-powered clock needs a way to keep time while the main processor sleeps. The 32.768 kHz crystal is used because it's 2^15 Hz — binary division to exactly 1 Hz with zero rounding error. Timer2 can be wired to this crystal independently of the CPU clock.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713209-C062-4A65-B42B-9192366D80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Timer0 and Timer1 always use the CPU clock. Timer2 is special — setting AS2 in ASSR disconnects it from the CPU clock and connects it to whatever crystal you put on TOSC1/TOSC2 pins. This is the hardware feature at the heart of the project.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CCFC8B9-7BDA-4998-94E5-C124C3E4A5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system architecture. Key point: the 32.768 kHz crystal feeds ONLY Timer2 via TOSC1/TOSC2 pins. The CPU wakes once per second, does its work in under a millisecond, then sleeps again. This is what makes the system low-power.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868AE1-3A40-41CD-B3CE-471F3BF421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 through the math. Timer2 has 256 counts before overflow. 32768 ÷ 256 = 128 exactly. So prescaler /128 gives exactly one overflow per second with no rounding error ever. The load capacitors must match the crystal's datasheet spec (typically 7-12 pF for watch crystals).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F6F8E4-D514-4285-9559-A36CC07FF1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schematic has all five required net labels: TOSC1_32768HZ, TOSC2_32768HZ, WAKE_LED, ALARM_BUZZER, SET_ALARM_BTN. The PCB follows the crystal placement rules: crystal close to TOSC pins, load caps adjacent, TOSC traces away from switching outputs.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39417BF-864E-4951-ADF3-878B2BDDDC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ISR is the heart of the firmware. It fires exactly once per second (on real hardware). Inside it: increment the clock, check for 10-second LED toggle, check alarm condition, manage buzzer countdown, then set the flag that wakes the main loop to print to serial.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F84CFF-CA3C-4BCA-97AD-834D3D6308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non-obvious implementation details. First: the ASSR busy flags MUST be waited on after any Timer2 register write — skipping this is a silent bug. Second: Power-Save stops the synchronous clock, which is perfect for the real hardware path but breaks the SimulIDE fallback that uses the synchronous clock for Timer2.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F5F304-DB4E-4F4B-8476-63C21B3264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 separate bugs that had to be understood and fixed for the SimulIDE simulation to work. The firmware has two compile-time paths. Everything the user sees — clock counting, alarm, LED, buzzer, buttons — is identical. Only the clock source and sleep depth change.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1AF820-FC62-439F-BD71-7070B74F423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six test cases passed. TC-06 is documented rather than a traditional pass/fail since SimulIDE doesn't fully model sleep modes — the workaround (SLEEP_MODE_IDLE in simulation) is explained and justified.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5EEAA5-A886-43CE-96DF-91B51C0880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takeaways from the project. Most important: Timer2's unique async capability is the enabler for everything else. The register sync and sleep mode mechanics are the two 'gotchas' that separate a working implementation from a subtly broken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D36D830-6026-4702-8CFA-3B555A80DE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Optional extension task. The base system already has the infrastructure: Timer2 fires every second. Adding a log_countdown counter means every 60 seconds you enable the ADC, read a sensor, write 10 bytes to EEPROM, and go back to sleep. The power impact is minimal.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710931-8BB3-4434-8950-0858328B02A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Closing slide. Summarise the four deliverables. The project demonstrates a complete embedded systems design cycle: concept → schematic → PCB → firmware → simulation → documentation. The GitHub repository link goes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E43F18-C8DE-4013-95E2-3D8A19532A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text 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image" Target="../media/image17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3280" cy="45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45720"/>
            <a:ext cx="3199680" cy="509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" name="Image 0" descr="preencoded.png"/>
          <p:cNvPicPr/>
          <p:nvPr/>
        </p:nvPicPr>
        <p:blipFill>
          <a:blip r:embed="rId1"/>
          <a:stretch/>
        </p:blipFill>
        <p:spPr>
          <a:xfrm>
            <a:off x="411480" y="54864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" name="Image 1" descr="preencoded.png"/>
          <p:cNvPicPr/>
          <p:nvPr/>
        </p:nvPicPr>
        <p:blipFill>
          <a:blip r:embed="rId2"/>
          <a:stretch/>
        </p:blipFill>
        <p:spPr>
          <a:xfrm>
            <a:off x="411480" y="137160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Image 2" descr="preencoded.png"/>
          <p:cNvPicPr/>
          <p:nvPr/>
        </p:nvPicPr>
        <p:blipFill>
          <a:blip r:embed="rId3"/>
          <a:stretch/>
        </p:blipFill>
        <p:spPr>
          <a:xfrm>
            <a:off x="411480" y="2194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" name="Image 3" descr="preencoded.png"/>
          <p:cNvPicPr/>
          <p:nvPr/>
        </p:nvPicPr>
        <p:blipFill>
          <a:blip r:embed="rId4"/>
          <a:stretch/>
        </p:blipFill>
        <p:spPr>
          <a:xfrm>
            <a:off x="411480" y="30175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Image 4" descr="preencoded.png"/>
          <p:cNvPicPr/>
          <p:nvPr/>
        </p:nvPicPr>
        <p:blipFill>
          <a:blip r:embed="rId5"/>
          <a:stretch/>
        </p:blipFill>
        <p:spPr>
          <a:xfrm>
            <a:off x="411480" y="38404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Text 2"/>
          <p:cNvSpPr/>
          <p:nvPr/>
        </p:nvSpPr>
        <p:spPr>
          <a:xfrm>
            <a:off x="1005840" y="557640"/>
            <a:ext cx="2102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ATmega32 MCU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1005840" y="78624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8 MHz internal RC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1005840" y="1380600"/>
            <a:ext cx="2102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32.768 kHz Crystal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005840" y="160920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TOSC1 / TOSC2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1005840" y="2203560"/>
            <a:ext cx="2102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Power-Save Sleep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1005840" y="243216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µA-level idle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1005840" y="3026520"/>
            <a:ext cx="2102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Timer2 Async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1005840" y="325512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1-second ISR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1005840" y="3849480"/>
            <a:ext cx="2102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Bare-Metal C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1005840" y="4078080"/>
            <a:ext cx="210240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AVR-GCC firmware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3474720" y="457200"/>
            <a:ext cx="5302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Project 13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3474720" y="914400"/>
            <a:ext cx="530280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Asynchrono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us Timer2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Low-Power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Timekeepin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4"/>
          <p:cNvSpPr/>
          <p:nvPr/>
        </p:nvSpPr>
        <p:spPr>
          <a:xfrm>
            <a:off x="3474720" y="2514600"/>
            <a:ext cx="913680" cy="45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3474720" y="2697480"/>
            <a:ext cx="5302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ATmega32 Microcontroller  ·  </a:t>
            </a: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32.768 kHz Watch Crystal  ·  </a:t>
            </a: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Power-Save Sleep Mode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6"/>
          <p:cNvSpPr/>
          <p:nvPr/>
        </p:nvSpPr>
        <p:spPr>
          <a:xfrm>
            <a:off x="3474720" y="3017520"/>
            <a:ext cx="53028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SimulIDE Simulation  </a:t>
            </a: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·  KiCad Schematic &amp; </a:t>
            </a: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PCB  ·  MPLAB for VS </a:t>
            </a: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Code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7"/>
          <p:cNvSpPr/>
          <p:nvPr/>
        </p:nvSpPr>
        <p:spPr>
          <a:xfrm>
            <a:off x="3474720" y="4023360"/>
            <a:ext cx="2010960" cy="410760"/>
          </a:xfrm>
          <a:prstGeom prst="roundRect">
            <a:avLst>
              <a:gd name="adj" fmla="val 17778"/>
            </a:avLst>
          </a:prstGeom>
          <a:solidFill>
            <a:srgbClr val="0077A8"/>
          </a:solidFill>
          <a:ln w="12700">
            <a:solidFill>
              <a:srgbClr val="0077A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8"/>
          <p:cNvSpPr/>
          <p:nvPr/>
        </p:nvSpPr>
        <p:spPr>
          <a:xfrm>
            <a:off x="3474720" y="4023360"/>
            <a:ext cx="2010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Embedded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Systems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9"/>
          <p:cNvSpPr/>
          <p:nvPr/>
        </p:nvSpPr>
        <p:spPr>
          <a:xfrm>
            <a:off x="5669280" y="4023360"/>
            <a:ext cx="2010960" cy="410760"/>
          </a:xfrm>
          <a:prstGeom prst="roundRect">
            <a:avLst>
              <a:gd name="adj" fmla="val 17778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0"/>
          <p:cNvSpPr/>
          <p:nvPr/>
        </p:nvSpPr>
        <p:spPr>
          <a:xfrm>
            <a:off x="5669280" y="4023360"/>
            <a:ext cx="20109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Computer Engineering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1"/>
          <p:cNvSpPr/>
          <p:nvPr/>
        </p:nvSpPr>
        <p:spPr>
          <a:xfrm>
            <a:off x="0" y="5097960"/>
            <a:ext cx="9143280" cy="45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0"/>
          <p:cNvSpPr/>
          <p:nvPr/>
        </p:nvSpPr>
        <p:spPr>
          <a:xfrm>
            <a:off x="457200" y="182880"/>
            <a:ext cx="822888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0D1B2A"/>
                </a:solidFill>
                <a:effectLst/>
                <a:uFillTx/>
                <a:latin typeface="Cambria"/>
                <a:ea typeface="Cambria"/>
              </a:rPr>
              <a:t>The Problem &amp; The Solution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"/>
          <p:cNvSpPr/>
          <p:nvPr/>
        </p:nvSpPr>
        <p:spPr>
          <a:xfrm>
            <a:off x="457200" y="77724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"/>
          <p:cNvSpPr/>
          <p:nvPr/>
        </p:nvSpPr>
        <p:spPr>
          <a:xfrm>
            <a:off x="365760" y="960120"/>
            <a:ext cx="3839760" cy="3382560"/>
          </a:xfrm>
          <a:prstGeom prst="roundRect">
            <a:avLst>
              <a:gd name="adj" fmla="val 3243"/>
            </a:avLst>
          </a:prstGeom>
          <a:solidFill>
            <a:srgbClr val="FFF3CD"/>
          </a:solidFill>
          <a:ln w="12700">
            <a:solidFill>
              <a:srgbClr val="F59E0B"/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0" descr="preencoded.png"/>
          <p:cNvPicPr/>
          <p:nvPr/>
        </p:nvPicPr>
        <p:blipFill>
          <a:blip r:embed="rId1"/>
          <a:stretch/>
        </p:blipFill>
        <p:spPr>
          <a:xfrm>
            <a:off x="594360" y="10972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3"/>
          <p:cNvSpPr/>
          <p:nvPr/>
        </p:nvSpPr>
        <p:spPr>
          <a:xfrm>
            <a:off x="1143000" y="1097280"/>
            <a:ext cx="2925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7C5500"/>
                </a:solidFill>
                <a:effectLst/>
                <a:uFillTx/>
                <a:latin typeface="Cambria"/>
                <a:ea typeface="Cambria"/>
              </a:rPr>
              <a:t>The Problem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4"/>
          <p:cNvSpPr/>
          <p:nvPr/>
        </p:nvSpPr>
        <p:spPr>
          <a:xfrm>
            <a:off x="594360" y="1691640"/>
            <a:ext cx="338256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Battery devices need to keep time 24/7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CPU at 8 MHz draws 8–12 mA constantly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Software timers drift when CPU is busy or interrupted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Hours of battery life instead of months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5"/>
          <p:cNvSpPr/>
          <p:nvPr/>
        </p:nvSpPr>
        <p:spPr>
          <a:xfrm>
            <a:off x="4343400" y="2286000"/>
            <a:ext cx="456480" cy="456480"/>
          </a:xfrm>
          <a:prstGeom prst="roundRect">
            <a:avLst>
              <a:gd name="adj" fmla="val 20000"/>
            </a:avLst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6"/>
          <p:cNvSpPr/>
          <p:nvPr/>
        </p:nvSpPr>
        <p:spPr>
          <a:xfrm>
            <a:off x="4343400" y="22860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7"/>
          <p:cNvSpPr/>
          <p:nvPr/>
        </p:nvSpPr>
        <p:spPr>
          <a:xfrm>
            <a:off x="4937760" y="960120"/>
            <a:ext cx="3839760" cy="3382560"/>
          </a:xfrm>
          <a:prstGeom prst="roundRect">
            <a:avLst>
              <a:gd name="adj" fmla="val 3243"/>
            </a:avLst>
          </a:prstGeom>
          <a:solidFill>
            <a:srgbClr val="E8F4F8"/>
          </a:solidFill>
          <a:ln w="12700">
            <a:solidFill>
              <a:srgbClr val="00B4D8"/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" name="Image 1" descr="preencoded.png"/>
          <p:cNvPicPr/>
          <p:nvPr/>
        </p:nvPicPr>
        <p:blipFill>
          <a:blip r:embed="rId2"/>
          <a:stretch/>
        </p:blipFill>
        <p:spPr>
          <a:xfrm>
            <a:off x="5166360" y="109728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Text 8"/>
          <p:cNvSpPr/>
          <p:nvPr/>
        </p:nvSpPr>
        <p:spPr>
          <a:xfrm>
            <a:off x="5715000" y="1097280"/>
            <a:ext cx="29253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A5276"/>
                </a:solidFill>
                <a:effectLst/>
                <a:uFillTx/>
                <a:latin typeface="Cambria"/>
                <a:ea typeface="Cambria"/>
              </a:rPr>
              <a:t>The Solution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9"/>
          <p:cNvSpPr/>
          <p:nvPr/>
        </p:nvSpPr>
        <p:spPr>
          <a:xfrm>
            <a:off x="5166360" y="1691640"/>
            <a:ext cx="338256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Timer2 runs from a 32.768 kHz watch crystal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Crystal is completely independent from the CPU clock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CPU sleeps in Power-Save mode — wakes once per second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601"/>
              </a:spcAft>
              <a:buClr>
                <a:srgbClr val="0D1B2A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Average current drops to ~100 µA → months of battery life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0"/>
          <p:cNvSpPr/>
          <p:nvPr/>
        </p:nvSpPr>
        <p:spPr>
          <a:xfrm>
            <a:off x="1371600" y="4526280"/>
            <a:ext cx="6400080" cy="410760"/>
          </a:xfrm>
          <a:prstGeom prst="roundRect">
            <a:avLst>
              <a:gd name="adj" fmla="val 17778"/>
            </a:avLst>
          </a:prstGeom>
          <a:solidFill>
            <a:srgbClr val="1E3A5F"/>
          </a:solidFill>
          <a:ln w="1270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1371600" y="4526280"/>
            <a:ext cx="64000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32.768 kHz crystal = 2¹⁵ Hz → divides to exactly 1 Hz with no rounding error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Timer2 Async Mode Works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320040" y="914400"/>
            <a:ext cx="2742480" cy="3108240"/>
          </a:xfrm>
          <a:prstGeom prst="roundRect">
            <a:avLst>
              <a:gd name="adj" fmla="val 4667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" name="Image 0" descr="preencoded.png"/>
          <p:cNvPicPr/>
          <p:nvPr/>
        </p:nvPicPr>
        <p:blipFill>
          <a:blip r:embed="rId1"/>
          <a:stretch/>
        </p:blipFill>
        <p:spPr>
          <a:xfrm>
            <a:off x="1417320" y="1051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Text 3"/>
          <p:cNvSpPr/>
          <p:nvPr/>
        </p:nvSpPr>
        <p:spPr>
          <a:xfrm>
            <a:off x="411480" y="1645920"/>
            <a:ext cx="2559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CPU Clock Domain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"/>
          <p:cNvSpPr/>
          <p:nvPr/>
        </p:nvSpPr>
        <p:spPr>
          <a:xfrm>
            <a:off x="457200" y="2176200"/>
            <a:ext cx="246816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8 MHz internal RC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Drives CPU, Timer0, Timer1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Stops during Power-Save sleep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5"/>
          <p:cNvSpPr/>
          <p:nvPr/>
        </p:nvSpPr>
        <p:spPr>
          <a:xfrm>
            <a:off x="3337560" y="914400"/>
            <a:ext cx="2742480" cy="3108240"/>
          </a:xfrm>
          <a:prstGeom prst="roundRect">
            <a:avLst>
              <a:gd name="adj" fmla="val 4667"/>
            </a:avLst>
          </a:prstGeom>
          <a:solidFill>
            <a:srgbClr val="0A3D62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1" descr="preencoded.png"/>
          <p:cNvPicPr/>
          <p:nvPr/>
        </p:nvPicPr>
        <p:blipFill>
          <a:blip r:embed="rId2"/>
          <a:stretch/>
        </p:blipFill>
        <p:spPr>
          <a:xfrm>
            <a:off x="4434840" y="1051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6"/>
          <p:cNvSpPr/>
          <p:nvPr/>
        </p:nvSpPr>
        <p:spPr>
          <a:xfrm>
            <a:off x="3429000" y="1645920"/>
            <a:ext cx="2559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Timer2 Async Domain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3474720" y="2176200"/>
            <a:ext cx="246816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32.768 kHz TOSC crystal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Runs ONLY Timer2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Never stops — even while CPU sleeps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8"/>
          <p:cNvSpPr/>
          <p:nvPr/>
        </p:nvSpPr>
        <p:spPr>
          <a:xfrm>
            <a:off x="6355080" y="914400"/>
            <a:ext cx="2742480" cy="3108240"/>
          </a:xfrm>
          <a:prstGeom prst="roundRect">
            <a:avLst>
              <a:gd name="adj" fmla="val 4667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" name="Image 2" descr="preencoded.png"/>
          <p:cNvPicPr/>
          <p:nvPr/>
        </p:nvPicPr>
        <p:blipFill>
          <a:blip r:embed="rId3"/>
          <a:stretch/>
        </p:blipFill>
        <p:spPr>
          <a:xfrm>
            <a:off x="7452360" y="105156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ext 9"/>
          <p:cNvSpPr/>
          <p:nvPr/>
        </p:nvSpPr>
        <p:spPr>
          <a:xfrm>
            <a:off x="6446520" y="1645920"/>
            <a:ext cx="25596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Power-Save Sleep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0"/>
          <p:cNvSpPr/>
          <p:nvPr/>
        </p:nvSpPr>
        <p:spPr>
          <a:xfrm>
            <a:off x="6492240" y="2176200"/>
            <a:ext cx="2468160" cy="164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CPU halts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Synchronous clocks stop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Only async Timer2 stays alive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1"/>
          <p:cNvSpPr/>
          <p:nvPr/>
        </p:nvSpPr>
        <p:spPr>
          <a:xfrm>
            <a:off x="3127320" y="2103120"/>
            <a:ext cx="227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rial"/>
                <a:ea typeface="Arial"/>
              </a:rPr>
              <a:t>≠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2"/>
          <p:cNvSpPr/>
          <p:nvPr/>
        </p:nvSpPr>
        <p:spPr>
          <a:xfrm>
            <a:off x="6144840" y="2103120"/>
            <a:ext cx="227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0B4D8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914400" y="4206240"/>
            <a:ext cx="7314480" cy="639360"/>
          </a:xfrm>
          <a:prstGeom prst="roundRect">
            <a:avLst>
              <a:gd name="adj" fmla="val 14286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914400" y="4206240"/>
            <a:ext cx="73144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Courier New"/>
                <a:ea typeface="Courier New"/>
              </a:rPr>
              <a:t>Key register: </a:t>
            </a:r>
            <a:r>
              <a:rPr lang="en-US" sz="1300" b="1" u="none" strike="noStrike">
                <a:solidFill>
                  <a:srgbClr val="00FF99"/>
                </a:solidFill>
                <a:effectLst/>
                <a:uFillTx/>
                <a:latin typeface="Courier New"/>
                <a:ea typeface="Courier New"/>
              </a:rPr>
              <a:t>ASSR |= (1 &lt;&lt; AS2)</a:t>
            </a:r>
            <a:r>
              <a:rPr lang="en-US" sz="13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— switches Timer2 from CPU clock to TOSC1/TOSC2 pins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D1B2A"/>
                </a:solidFill>
                <a:effectLst/>
                <a:uFillTx/>
                <a:latin typeface="Cambria"/>
                <a:ea typeface="Cambria"/>
              </a:rPr>
              <a:t>System 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228600" y="1005840"/>
            <a:ext cx="1736640" cy="822240"/>
          </a:xfrm>
          <a:prstGeom prst="roundRect">
            <a:avLst>
              <a:gd name="adj" fmla="val 11111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228600" y="1005840"/>
            <a:ext cx="173664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32.768 kHz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Watch Crystal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(TOSC1/TOSC2)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1965960" y="1417320"/>
            <a:ext cx="45720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965960" y="10972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async clk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6"/>
          <p:cNvSpPr/>
          <p:nvPr/>
        </p:nvSpPr>
        <p:spPr>
          <a:xfrm>
            <a:off x="2423160" y="1005840"/>
            <a:ext cx="1645200" cy="822240"/>
          </a:xfrm>
          <a:prstGeom prst="roundRect">
            <a:avLst>
              <a:gd name="adj" fmla="val 11111"/>
            </a:avLst>
          </a:prstGeom>
          <a:solidFill>
            <a:srgbClr val="0A3D62"/>
          </a:solidFill>
          <a:ln w="12700">
            <a:solidFill>
              <a:srgbClr val="00B4D8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7"/>
          <p:cNvSpPr/>
          <p:nvPr/>
        </p:nvSpPr>
        <p:spPr>
          <a:xfrm>
            <a:off x="2423160" y="1005840"/>
            <a:ext cx="16452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Timer2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Async Mode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÷128 → 1s OVF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8"/>
          <p:cNvSpPr/>
          <p:nvPr/>
        </p:nvSpPr>
        <p:spPr>
          <a:xfrm>
            <a:off x="4069080" y="1417320"/>
            <a:ext cx="411480" cy="360"/>
          </a:xfrm>
          <a:prstGeom prst="line">
            <a:avLst/>
          </a:prstGeom>
          <a:ln w="254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4069080" y="1097280"/>
            <a:ext cx="410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ISR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4480560" y="868680"/>
            <a:ext cx="2010960" cy="1096560"/>
          </a:xfrm>
          <a:prstGeom prst="roundRect">
            <a:avLst>
              <a:gd name="adj" fmla="val 8333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4480560" y="868680"/>
            <a:ext cx="201096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ATmega32 CPU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8 MHz internal RC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(Power-Save sleep)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2"/>
          <p:cNvSpPr/>
          <p:nvPr/>
        </p:nvSpPr>
        <p:spPr>
          <a:xfrm>
            <a:off x="6492240" y="1097280"/>
            <a:ext cx="365760" cy="360"/>
          </a:xfrm>
          <a:prstGeom prst="line">
            <a:avLst/>
          </a:prstGeom>
          <a:ln w="254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6858000" y="914400"/>
            <a:ext cx="1919520" cy="438120"/>
          </a:xfrm>
          <a:prstGeom prst="roundRect">
            <a:avLst>
              <a:gd name="adj" fmla="val 16667"/>
            </a:avLst>
          </a:prstGeom>
          <a:solidFill>
            <a:srgbClr val="E8FFF0"/>
          </a:solidFill>
          <a:ln w="12700">
            <a:solidFill>
              <a:srgbClr val="22C55E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6858000" y="91440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A5C2A"/>
                </a:solidFill>
                <a:effectLst/>
                <a:uFillTx/>
                <a:latin typeface="Calibri"/>
                <a:ea typeface="Calibri"/>
              </a:rPr>
              <a:t>PB0 → LED (330Ω) · Wake every 10s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15"/>
          <p:cNvSpPr/>
          <p:nvPr/>
        </p:nvSpPr>
        <p:spPr>
          <a:xfrm>
            <a:off x="6492240" y="146304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6858000" y="1444680"/>
            <a:ext cx="1919520" cy="438120"/>
          </a:xfrm>
          <a:prstGeom prst="roundRect">
            <a:avLst>
              <a:gd name="adj" fmla="val 16667"/>
            </a:avLst>
          </a:prstGeom>
          <a:solidFill>
            <a:srgbClr val="FFF8E1"/>
          </a:solidFill>
          <a:ln w="12700">
            <a:solidFill>
              <a:srgbClr val="F59E0B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6858000" y="1444680"/>
            <a:ext cx="191952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C5500"/>
                </a:solidFill>
                <a:effectLst/>
                <a:uFillTx/>
                <a:latin typeface="Calibri"/>
                <a:ea typeface="Calibri"/>
              </a:rPr>
              <a:t>PB1 → Buzzer · Alarm for 3s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18"/>
          <p:cNvSpPr/>
          <p:nvPr/>
        </p:nvSpPr>
        <p:spPr>
          <a:xfrm>
            <a:off x="228600" y="2148840"/>
            <a:ext cx="3839760" cy="639360"/>
          </a:xfrm>
          <a:prstGeom prst="roundRect">
            <a:avLst>
              <a:gd name="adj" fmla="val 14286"/>
            </a:avLst>
          </a:prstGeom>
          <a:solidFill>
            <a:srgbClr val="F0F4FF"/>
          </a:solidFill>
          <a:ln w="12700">
            <a:solidFill>
              <a:srgbClr val="7CB4D0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9"/>
          <p:cNvSpPr/>
          <p:nvPr/>
        </p:nvSpPr>
        <p:spPr>
          <a:xfrm>
            <a:off x="228600" y="2148840"/>
            <a:ext cx="3839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Buttons (active-LOW + internal pull-ups)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PA0: Reset time  ·  PA1: Set alarm mode  ·  PA2: Increment field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0"/>
          <p:cNvSpPr/>
          <p:nvPr/>
        </p:nvSpPr>
        <p:spPr>
          <a:xfrm flipV="1">
            <a:off x="2148840" y="1874520"/>
            <a:ext cx="360" cy="274320"/>
          </a:xfrm>
          <a:prstGeom prst="line">
            <a:avLst/>
          </a:prstGeom>
          <a:ln w="25400">
            <a:solidFill>
              <a:srgbClr val="7CB4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"/>
          <p:cNvSpPr/>
          <p:nvPr/>
        </p:nvSpPr>
        <p:spPr>
          <a:xfrm>
            <a:off x="2148840" y="1874520"/>
            <a:ext cx="2743200" cy="360"/>
          </a:xfrm>
          <a:prstGeom prst="line">
            <a:avLst/>
          </a:prstGeom>
          <a:ln w="25400">
            <a:solidFill>
              <a:srgbClr val="7CB4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2"/>
          <p:cNvSpPr/>
          <p:nvPr/>
        </p:nvSpPr>
        <p:spPr>
          <a:xfrm>
            <a:off x="4892040" y="1874520"/>
            <a:ext cx="360" cy="91440"/>
          </a:xfrm>
          <a:prstGeom prst="line">
            <a:avLst/>
          </a:prstGeom>
          <a:ln w="25400">
            <a:solidFill>
              <a:srgbClr val="7CB4D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3"/>
          <p:cNvSpPr/>
          <p:nvPr/>
        </p:nvSpPr>
        <p:spPr>
          <a:xfrm>
            <a:off x="4572000" y="2148840"/>
            <a:ext cx="4205520" cy="639360"/>
          </a:xfrm>
          <a:prstGeom prst="roundRect">
            <a:avLst>
              <a:gd name="adj" fmla="val 14286"/>
            </a:avLst>
          </a:prstGeom>
          <a:solidFill>
            <a:srgbClr val="F5F0FF"/>
          </a:solidFill>
          <a:ln w="12700">
            <a:solidFill>
              <a:srgbClr val="9B59B6"/>
            </a:solidFill>
            <a:round/>
          </a:ln>
          <a:effectLst>
            <a:outerShdw algn="bl" blurRad="76320" dir="2700000" dist="25455" kx="0" ky="0" rotWithShape="0" sx="100000" sy="10000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4572000" y="2148840"/>
            <a:ext cx="420552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PD1 → SerialTerm @ 9600 baud 8N1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TIME: HH:MM:SS  ·  ALRM: HH:MM:SS  ·  MODE: LOW POWER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5"/>
          <p:cNvSpPr/>
          <p:nvPr/>
        </p:nvSpPr>
        <p:spPr>
          <a:xfrm flipV="1">
            <a:off x="5486400" y="1965960"/>
            <a:ext cx="360" cy="182880"/>
          </a:xfrm>
          <a:prstGeom prst="line">
            <a:avLst/>
          </a:prstGeom>
          <a:ln w="25400">
            <a:solidFill>
              <a:srgbClr val="9B59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6"/>
          <p:cNvSpPr/>
          <p:nvPr/>
        </p:nvSpPr>
        <p:spPr>
          <a:xfrm>
            <a:off x="274320" y="3017520"/>
            <a:ext cx="8594640" cy="1782360"/>
          </a:xfrm>
          <a:prstGeom prst="roundRect">
            <a:avLst>
              <a:gd name="adj" fmla="val 6154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7"/>
          <p:cNvSpPr/>
          <p:nvPr/>
        </p:nvSpPr>
        <p:spPr>
          <a:xfrm>
            <a:off x="365760" y="3090600"/>
            <a:ext cx="36568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Power-Save Sleep Cycle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8"/>
          <p:cNvSpPr/>
          <p:nvPr/>
        </p:nvSpPr>
        <p:spPr>
          <a:xfrm>
            <a:off x="45720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0A3D62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9"/>
          <p:cNvSpPr/>
          <p:nvPr/>
        </p:nvSpPr>
        <p:spPr>
          <a:xfrm>
            <a:off x="45720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CPU wakes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(ISR fires)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0"/>
          <p:cNvSpPr/>
          <p:nvPr/>
        </p:nvSpPr>
        <p:spPr>
          <a:xfrm>
            <a:off x="1691640" y="3886200"/>
            <a:ext cx="182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31"/>
          <p:cNvSpPr/>
          <p:nvPr/>
        </p:nvSpPr>
        <p:spPr>
          <a:xfrm>
            <a:off x="187452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1A2E45"/>
          </a:solidFill>
          <a:ln w="12700">
            <a:solidFill>
              <a:srgbClr val="E8F4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32"/>
          <p:cNvSpPr/>
          <p:nvPr/>
        </p:nvSpPr>
        <p:spPr>
          <a:xfrm>
            <a:off x="187452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Update clock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Check alarm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Toggle LED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3"/>
          <p:cNvSpPr/>
          <p:nvPr/>
        </p:nvSpPr>
        <p:spPr>
          <a:xfrm>
            <a:off x="3108960" y="3886200"/>
            <a:ext cx="182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34"/>
          <p:cNvSpPr/>
          <p:nvPr/>
        </p:nvSpPr>
        <p:spPr>
          <a:xfrm>
            <a:off x="329184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1A2E45"/>
          </a:solidFill>
          <a:ln w="12700">
            <a:solidFill>
              <a:srgbClr val="E8F4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35"/>
          <p:cNvSpPr/>
          <p:nvPr/>
        </p:nvSpPr>
        <p:spPr>
          <a:xfrm>
            <a:off x="329184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Set flag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Return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6"/>
          <p:cNvSpPr/>
          <p:nvPr/>
        </p:nvSpPr>
        <p:spPr>
          <a:xfrm>
            <a:off x="4526280" y="3886200"/>
            <a:ext cx="182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7"/>
          <p:cNvSpPr/>
          <p:nvPr/>
        </p:nvSpPr>
        <p:spPr>
          <a:xfrm>
            <a:off x="470916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1A2E45"/>
          </a:solidFill>
          <a:ln w="12700">
            <a:solidFill>
              <a:srgbClr val="E8F4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8"/>
          <p:cNvSpPr/>
          <p:nvPr/>
        </p:nvSpPr>
        <p:spPr>
          <a:xfrm>
            <a:off x="470916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Main loop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Refreshes display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39"/>
          <p:cNvSpPr/>
          <p:nvPr/>
        </p:nvSpPr>
        <p:spPr>
          <a:xfrm>
            <a:off x="5943600" y="3886200"/>
            <a:ext cx="182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40"/>
          <p:cNvSpPr/>
          <p:nvPr/>
        </p:nvSpPr>
        <p:spPr>
          <a:xfrm>
            <a:off x="612648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1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1"/>
          <p:cNvSpPr/>
          <p:nvPr/>
        </p:nvSpPr>
        <p:spPr>
          <a:xfrm>
            <a:off x="612648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enter_sleep()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CPU halts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2"/>
          <p:cNvSpPr/>
          <p:nvPr/>
        </p:nvSpPr>
        <p:spPr>
          <a:xfrm>
            <a:off x="7360920" y="3886200"/>
            <a:ext cx="1821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43"/>
          <p:cNvSpPr/>
          <p:nvPr/>
        </p:nvSpPr>
        <p:spPr>
          <a:xfrm>
            <a:off x="7543800" y="3493080"/>
            <a:ext cx="1233720" cy="1142280"/>
          </a:xfrm>
          <a:prstGeom prst="roundRect">
            <a:avLst>
              <a:gd name="adj" fmla="val 6400"/>
            </a:avLst>
          </a:prstGeom>
          <a:solidFill>
            <a:srgbClr val="1A2E45"/>
          </a:solidFill>
          <a:ln w="12700">
            <a:solidFill>
              <a:srgbClr val="7FB3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4"/>
          <p:cNvSpPr/>
          <p:nvPr/>
        </p:nvSpPr>
        <p:spPr>
          <a:xfrm>
            <a:off x="7543800" y="3493080"/>
            <a:ext cx="123372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1 second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passes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5"/>
          <p:cNvSpPr/>
          <p:nvPr/>
        </p:nvSpPr>
        <p:spPr>
          <a:xfrm>
            <a:off x="365760" y="4736520"/>
            <a:ext cx="822888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← repeats every second  (CPU active &lt;1ms out of 1000ms)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Timer2 Timing Calculation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"/>
          <p:cNvSpPr/>
          <p:nvPr/>
        </p:nvSpPr>
        <p:spPr>
          <a:xfrm>
            <a:off x="274320" y="914400"/>
            <a:ext cx="2559600" cy="393120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3"/>
          <p:cNvSpPr/>
          <p:nvPr/>
        </p:nvSpPr>
        <p:spPr>
          <a:xfrm>
            <a:off x="274320" y="1188720"/>
            <a:ext cx="255960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32768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4"/>
          <p:cNvSpPr/>
          <p:nvPr/>
        </p:nvSpPr>
        <p:spPr>
          <a:xfrm>
            <a:off x="274320" y="219456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Hz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274320" y="2606040"/>
            <a:ext cx="2559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= 2¹⁵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320040" y="3017520"/>
            <a:ext cx="2468160" cy="86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Only frequency that divides to exactly 1 Hz using binary prescalers alone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7"/>
          <p:cNvSpPr/>
          <p:nvPr/>
        </p:nvSpPr>
        <p:spPr>
          <a:xfrm>
            <a:off x="3017520" y="1005840"/>
            <a:ext cx="5760000" cy="657720"/>
          </a:xfrm>
          <a:prstGeom prst="roundRect">
            <a:avLst>
              <a:gd name="adj" fmla="val 11111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3154680" y="104256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Crystal frequency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9"/>
          <p:cNvSpPr/>
          <p:nvPr/>
        </p:nvSpPr>
        <p:spPr>
          <a:xfrm>
            <a:off x="3154680" y="13168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f_TOSC = 32,768 Hz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10"/>
          <p:cNvSpPr/>
          <p:nvPr/>
        </p:nvSpPr>
        <p:spPr>
          <a:xfrm>
            <a:off x="3017520" y="1755720"/>
            <a:ext cx="5760000" cy="657720"/>
          </a:xfrm>
          <a:prstGeom prst="roundRect">
            <a:avLst>
              <a:gd name="adj" fmla="val 11111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3154680" y="17920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Timer2 is 8-bit → counts 0–255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3154680" y="206640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256 counts per overflow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3017520" y="2505600"/>
            <a:ext cx="5760000" cy="657720"/>
          </a:xfrm>
          <a:prstGeom prst="roundRect">
            <a:avLst>
              <a:gd name="adj" fmla="val 11111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3154680" y="254196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Prescaler needed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5"/>
          <p:cNvSpPr/>
          <p:nvPr/>
        </p:nvSpPr>
        <p:spPr>
          <a:xfrm>
            <a:off x="3154680" y="281628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N = 32768 ÷ 256 = 128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3017520" y="3255120"/>
            <a:ext cx="5760000" cy="657720"/>
          </a:xfrm>
          <a:prstGeom prst="roundRect">
            <a:avLst>
              <a:gd name="adj" fmla="val 11111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3154680" y="329184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TCCR2 bits CS2[2:0]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3154680" y="356616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= 0b101  (prescaler /128)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3017520" y="4005000"/>
            <a:ext cx="5760000" cy="657720"/>
          </a:xfrm>
          <a:prstGeom prst="roundRect">
            <a:avLst>
              <a:gd name="adj" fmla="val 11111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0"/>
          <p:cNvSpPr/>
          <p:nvPr/>
        </p:nvSpPr>
        <p:spPr>
          <a:xfrm>
            <a:off x="3154680" y="404172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Overflow period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3154680" y="4316040"/>
            <a:ext cx="54856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2C55E"/>
                </a:solidFill>
                <a:effectLst/>
                <a:uFillTx/>
                <a:latin typeface="Courier New"/>
                <a:ea typeface="Courier New"/>
              </a:rPr>
              <a:t>T = (256 × 128) ÷ 32768 = 1.000 s  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22"/>
          <p:cNvSpPr/>
          <p:nvPr/>
        </p:nvSpPr>
        <p:spPr>
          <a:xfrm>
            <a:off x="3017520" y="4663440"/>
            <a:ext cx="5760000" cy="365040"/>
          </a:xfrm>
          <a:prstGeom prst="roundRect">
            <a:avLst>
              <a:gd name="adj" fmla="val 20000"/>
            </a:avLst>
          </a:prstGeom>
          <a:solidFill>
            <a:srgbClr val="1E3A5F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3"/>
          <p:cNvSpPr/>
          <p:nvPr/>
        </p:nvSpPr>
        <p:spPr>
          <a:xfrm>
            <a:off x="3108960" y="4663440"/>
            <a:ext cx="5577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Load caps C1 &amp; C2 = 12 pF match the crystal's specified load capacitance for stable oscillation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D1B2A"/>
                </a:solidFill>
                <a:effectLst/>
                <a:uFillTx/>
                <a:latin typeface="Cambria"/>
                <a:ea typeface="Cambria"/>
              </a:rPr>
              <a:t>KiCad Schematic &amp; PCB Design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274320" y="914400"/>
            <a:ext cx="4022640" cy="29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274320" y="3886200"/>
            <a:ext cx="402264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Figure 3.1 — KiCad Schematic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6"/>
          <p:cNvSpPr/>
          <p:nvPr/>
        </p:nvSpPr>
        <p:spPr>
          <a:xfrm>
            <a:off x="4572000" y="914400"/>
            <a:ext cx="4296960" cy="29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4572000" y="3886200"/>
            <a:ext cx="4296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Figure 3.4 — KiCad 3D PCB Render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8"/>
          <p:cNvSpPr/>
          <p:nvPr/>
        </p:nvSpPr>
        <p:spPr>
          <a:xfrm>
            <a:off x="274320" y="4251960"/>
            <a:ext cx="8594640" cy="730800"/>
          </a:xfrm>
          <a:prstGeom prst="roundRect">
            <a:avLst>
              <a:gd name="adj" fmla="val 12500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9"/>
          <p:cNvSpPr/>
          <p:nvPr/>
        </p:nvSpPr>
        <p:spPr>
          <a:xfrm>
            <a:off x="365760" y="4251960"/>
            <a:ext cx="8411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ERC: 0 errors  ·  DRC: 0 violations  ·  Gerber files generated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0"/>
          <p:cNvSpPr/>
          <p:nvPr/>
        </p:nvSpPr>
        <p:spPr>
          <a:xfrm>
            <a:off x="365760" y="379476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✔ Y1 placed as close as possible to PC6/PC7 — minimises TOSC trace length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1"/>
          <p:cNvSpPr/>
          <p:nvPr/>
        </p:nvSpPr>
        <p:spPr>
          <a:xfrm>
            <a:off x="3383280" y="379476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✔ C1 &amp; C2 (12 pF) immediately adjacent to crystal — short GND routes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2"/>
          <p:cNvSpPr/>
          <p:nvPr/>
        </p:nvSpPr>
        <p:spPr>
          <a:xfrm>
            <a:off x="6309360" y="3794760"/>
            <a:ext cx="2925360" cy="38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✔ TOSC1/TOSC2 traces routed away from LED switching outputs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" name=""/>
          <p:cNvPicPr/>
          <p:nvPr/>
        </p:nvPicPr>
        <p:blipFill>
          <a:blip r:embed="rId1"/>
          <a:stretch/>
        </p:blipFill>
        <p:spPr>
          <a:xfrm>
            <a:off x="3245400" y="808200"/>
            <a:ext cx="2469600" cy="303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1" name=""/>
          <p:cNvPicPr/>
          <p:nvPr/>
        </p:nvPicPr>
        <p:blipFill>
          <a:blip r:embed="rId2"/>
          <a:stretch/>
        </p:blipFill>
        <p:spPr>
          <a:xfrm>
            <a:off x="6308640" y="776520"/>
            <a:ext cx="2495520" cy="306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"/>
          <p:cNvPicPr/>
          <p:nvPr/>
        </p:nvPicPr>
        <p:blipFill>
          <a:blip r:embed="rId3"/>
          <a:stretch/>
        </p:blipFill>
        <p:spPr>
          <a:xfrm>
            <a:off x="274320" y="786240"/>
            <a:ext cx="2754720" cy="3053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Firmware: The Heart — Timer2 ISR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2"/>
          <p:cNvSpPr/>
          <p:nvPr/>
        </p:nvSpPr>
        <p:spPr>
          <a:xfrm>
            <a:off x="274320" y="896040"/>
            <a:ext cx="5028480" cy="4022640"/>
          </a:xfrm>
          <a:prstGeom prst="roundRect">
            <a:avLst>
              <a:gd name="adj" fmla="val 2273"/>
            </a:avLst>
          </a:prstGeom>
          <a:solidFill>
            <a:srgbClr val="0A1628"/>
          </a:solidFill>
          <a:ln w="12700">
            <a:solidFill>
              <a:srgbClr val="2D4A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3"/>
          <p:cNvSpPr/>
          <p:nvPr/>
        </p:nvSpPr>
        <p:spPr>
          <a:xfrm>
            <a:off x="365760" y="987480"/>
            <a:ext cx="4845600" cy="37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69CD6"/>
                </a:solidFill>
                <a:effectLst/>
                <a:uFillTx/>
                <a:latin typeface="Courier New"/>
                <a:ea typeface="Courier New"/>
              </a:rPr>
              <a:t>ISR</a:t>
            </a:r>
            <a:r>
              <a:rPr lang="en-US" sz="1200" b="0" u="none" strike="noStrike">
                <a:solidFill>
                  <a:srgbClr val="DCDCAA"/>
                </a:solidFill>
                <a:effectLst/>
                <a:uFillTx/>
                <a:latin typeface="Courier New"/>
                <a:ea typeface="Courier New"/>
              </a:rPr>
              <a:t>(TIMER2_OVF_vect)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 {</a:t>
            </a: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g_seconds++;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08B4E"/>
                </a:solidFill>
                <a:effectLst/>
                <a:uFillTx/>
                <a:latin typeface="Courier New"/>
                <a:ea typeface="Courier New"/>
              </a:rPr>
              <a:t>  // roll over at 60/60/24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if (g_seconds % 10 == 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08B4E"/>
                </a:solidFill>
                <a:effectLst/>
                <a:uFillTx/>
                <a:latin typeface="Courier New"/>
                <a:ea typeface="Courier New"/>
              </a:rPr>
              <a:t>    PORTB ^= (1&lt;&lt;PB0);  // toggle LED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if (time == alarm_time) {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08B4E"/>
                </a:solidFill>
                <a:effectLst/>
                <a:uFillTx/>
                <a:latin typeface="Courier New"/>
                <a:ea typeface="Courier New"/>
              </a:rPr>
              <a:t>    PORTB |= (1&lt;&lt;PB1);  // buzzer 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  g_buzz_countdown = 3;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ourier New"/>
                <a:ea typeface="Courier New"/>
              </a:rPr>
              <a:t>  g_time_updated = true;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4"/>
          <p:cNvSpPr/>
          <p:nvPr/>
        </p:nvSpPr>
        <p:spPr>
          <a:xfrm>
            <a:off x="5440680" y="96012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5468040" y="96012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Arial"/>
                <a:ea typeface="Arial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6"/>
          <p:cNvSpPr/>
          <p:nvPr/>
        </p:nvSpPr>
        <p:spPr>
          <a:xfrm>
            <a:off x="5870520" y="96012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Runs exactly once per second — no drift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7"/>
          <p:cNvSpPr/>
          <p:nvPr/>
        </p:nvSpPr>
        <p:spPr>
          <a:xfrm>
            <a:off x="5440680" y="148140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8"/>
          <p:cNvSpPr/>
          <p:nvPr/>
        </p:nvSpPr>
        <p:spPr>
          <a:xfrm>
            <a:off x="5468040" y="148140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Arial"/>
                <a:ea typeface="Arial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9"/>
          <p:cNvSpPr/>
          <p:nvPr/>
        </p:nvSpPr>
        <p:spPr>
          <a:xfrm>
            <a:off x="5870520" y="148140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Increments seconds → minutes → hours with midnight rollover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0"/>
          <p:cNvSpPr/>
          <p:nvPr/>
        </p:nvSpPr>
        <p:spPr>
          <a:xfrm>
            <a:off x="5440680" y="200268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1"/>
          <p:cNvSpPr/>
          <p:nvPr/>
        </p:nvSpPr>
        <p:spPr>
          <a:xfrm>
            <a:off x="5468040" y="200268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Arial"/>
                <a:ea typeface="Arial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2"/>
          <p:cNvSpPr/>
          <p:nvPr/>
        </p:nvSpPr>
        <p:spPr>
          <a:xfrm>
            <a:off x="5870520" y="200268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Toggles PB0 (LED) every WAKEUP_INTERVAL=10 seconds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3"/>
          <p:cNvSpPr/>
          <p:nvPr/>
        </p:nvSpPr>
        <p:spPr>
          <a:xfrm>
            <a:off x="5440680" y="252360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4"/>
          <p:cNvSpPr/>
          <p:nvPr/>
        </p:nvSpPr>
        <p:spPr>
          <a:xfrm>
            <a:off x="5468040" y="252360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Arial"/>
                <a:ea typeface="Arial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5"/>
          <p:cNvSpPr/>
          <p:nvPr/>
        </p:nvSpPr>
        <p:spPr>
          <a:xfrm>
            <a:off x="5870520" y="252360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Activates buzzer (PB1) for ALARM_BUZZ_DURATION=3s on alarm match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16"/>
          <p:cNvSpPr/>
          <p:nvPr/>
        </p:nvSpPr>
        <p:spPr>
          <a:xfrm>
            <a:off x="5440680" y="304488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7"/>
          <p:cNvSpPr/>
          <p:nvPr/>
        </p:nvSpPr>
        <p:spPr>
          <a:xfrm>
            <a:off x="5468040" y="304488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Arial"/>
                <a:ea typeface="Arial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18"/>
          <p:cNvSpPr/>
          <p:nvPr/>
        </p:nvSpPr>
        <p:spPr>
          <a:xfrm>
            <a:off x="5870520" y="304488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Sets g_time_updated flag — wakes main loop to refresh serial output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19"/>
          <p:cNvSpPr/>
          <p:nvPr/>
        </p:nvSpPr>
        <p:spPr>
          <a:xfrm>
            <a:off x="5440680" y="356616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0"/>
          <p:cNvSpPr/>
          <p:nvPr/>
        </p:nvSpPr>
        <p:spPr>
          <a:xfrm>
            <a:off x="5468040" y="356616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Arial"/>
                <a:ea typeface="Arial"/>
              </a:rPr>
              <a:t>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1"/>
          <p:cNvSpPr/>
          <p:nvPr/>
        </p:nvSpPr>
        <p:spPr>
          <a:xfrm>
            <a:off x="5870520" y="356616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All variables volatile — modified in ISR, read in 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22"/>
          <p:cNvSpPr/>
          <p:nvPr/>
        </p:nvSpPr>
        <p:spPr>
          <a:xfrm>
            <a:off x="5440680" y="4087440"/>
            <a:ext cx="3474000" cy="456480"/>
          </a:xfrm>
          <a:prstGeom prst="roundRect">
            <a:avLst>
              <a:gd name="adj" fmla="val 14000"/>
            </a:avLst>
          </a:prstGeom>
          <a:solidFill>
            <a:srgbClr val="1A2E45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3"/>
          <p:cNvSpPr/>
          <p:nvPr/>
        </p:nvSpPr>
        <p:spPr>
          <a:xfrm>
            <a:off x="5468040" y="4087440"/>
            <a:ext cx="36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Arial"/>
                <a:ea typeface="Arial"/>
              </a:rPr>
              <a:t>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4"/>
          <p:cNvSpPr/>
          <p:nvPr/>
        </p:nvSpPr>
        <p:spPr>
          <a:xfrm>
            <a:off x="5870520" y="4087440"/>
            <a:ext cx="30168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cli()/sei() around multi-byte reads to prevent torn reads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D1B2A"/>
                </a:solidFill>
                <a:effectLst/>
                <a:uFillTx/>
                <a:latin typeface="Cambria"/>
                <a:ea typeface="Cambria"/>
              </a:rPr>
              <a:t>Two Critical Details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2"/>
          <p:cNvSpPr/>
          <p:nvPr/>
        </p:nvSpPr>
        <p:spPr>
          <a:xfrm>
            <a:off x="274320" y="914400"/>
            <a:ext cx="4022640" cy="3931200"/>
          </a:xfrm>
          <a:prstGeom prst="roundRect">
            <a:avLst>
              <a:gd name="adj" fmla="val 2791"/>
            </a:avLst>
          </a:prstGeom>
          <a:solidFill>
            <a:srgbClr val="FFFDF0"/>
          </a:solidFill>
          <a:ln w="12700">
            <a:solidFill>
              <a:srgbClr val="F59E0B"/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Image 0" descr="preencoded.png"/>
          <p:cNvPicPr/>
          <p:nvPr/>
        </p:nvPicPr>
        <p:blipFill>
          <a:blip r:embed="rId1"/>
          <a:stretch/>
        </p:blipFill>
        <p:spPr>
          <a:xfrm>
            <a:off x="457200" y="1051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 3"/>
          <p:cNvSpPr/>
          <p:nvPr/>
        </p:nvSpPr>
        <p:spPr>
          <a:xfrm>
            <a:off x="960120" y="1051560"/>
            <a:ext cx="31996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5500"/>
                </a:solidFill>
                <a:effectLst/>
                <a:uFillTx/>
                <a:latin typeface="Cambria"/>
                <a:ea typeface="Cambria"/>
              </a:rPr>
              <a:t>Async Register Sync (MANDATORY)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4"/>
          <p:cNvSpPr/>
          <p:nvPr/>
        </p:nvSpPr>
        <p:spPr>
          <a:xfrm>
            <a:off x="365760" y="1554480"/>
            <a:ext cx="36568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Timer2 registers cross two clock domains.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After writing, you MUST wait for ASSR busy flags to clear: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365760" y="2240280"/>
            <a:ext cx="3656880" cy="639360"/>
          </a:xfrm>
          <a:prstGeom prst="roundRect">
            <a:avLst>
              <a:gd name="adj" fmla="val 11429"/>
            </a:avLst>
          </a:prstGeom>
          <a:solidFill>
            <a:srgbClr val="0A1628"/>
          </a:solidFill>
          <a:ln w="12700">
            <a:solidFill>
              <a:srgbClr val="2D4A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6"/>
          <p:cNvSpPr/>
          <p:nvPr/>
        </p:nvSpPr>
        <p:spPr>
          <a:xfrm>
            <a:off x="411480" y="2240280"/>
            <a:ext cx="356544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0FF99"/>
                </a:solidFill>
                <a:effectLst/>
                <a:uFillTx/>
                <a:latin typeface="Courier New"/>
                <a:ea typeface="Courier New"/>
              </a:rPr>
              <a:t>while (ASSR &amp; (TCN2UB|OCR2UB|TCR2UB));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7"/>
          <p:cNvSpPr/>
          <p:nvPr/>
        </p:nvSpPr>
        <p:spPr>
          <a:xfrm>
            <a:off x="365760" y="2971800"/>
            <a:ext cx="3656880" cy="16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alibri"/>
                <a:ea typeface="Calibri"/>
              </a:rPr>
              <a:t>Skipping this loop</a:t>
            </a: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 silently corrupts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Timer2 configuration — no error, no warning, just a timer that doesn't work correctly. The ATmega32 datasheet mandates this wait.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4572000" y="914400"/>
            <a:ext cx="4296960" cy="3931200"/>
          </a:xfrm>
          <a:prstGeom prst="roundRect">
            <a:avLst>
              <a:gd name="adj" fmla="val 2791"/>
            </a:avLst>
          </a:prstGeom>
          <a:solidFill>
            <a:srgbClr val="F0F4FF"/>
          </a:solidFill>
          <a:ln w="12700">
            <a:solidFill>
              <a:srgbClr val="00B4D8"/>
            </a:solidFill>
            <a:round/>
          </a:ln>
          <a:effectLst>
            <a:outerShdw algn="bl" blurRad="101520" dir="2700000" dist="37674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" name="Image 1" descr="preencoded.png"/>
          <p:cNvPicPr/>
          <p:nvPr/>
        </p:nvPicPr>
        <p:blipFill>
          <a:blip r:embed="rId2"/>
          <a:stretch/>
        </p:blipFill>
        <p:spPr>
          <a:xfrm>
            <a:off x="4754880" y="1051560"/>
            <a:ext cx="41076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Text 9"/>
          <p:cNvSpPr/>
          <p:nvPr/>
        </p:nvSpPr>
        <p:spPr>
          <a:xfrm>
            <a:off x="5257800" y="1051560"/>
            <a:ext cx="34740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2E8C"/>
                </a:solidFill>
                <a:effectLst/>
                <a:uFillTx/>
                <a:latin typeface="Cambria"/>
                <a:ea typeface="Cambria"/>
              </a:rPr>
              <a:t>Sleep Mode Selection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0"/>
          <p:cNvSpPr/>
          <p:nvPr/>
        </p:nvSpPr>
        <p:spPr>
          <a:xfrm>
            <a:off x="4663440" y="1645920"/>
            <a:ext cx="4022640" cy="1462320"/>
          </a:xfrm>
          <a:prstGeom prst="roundRect">
            <a:avLst>
              <a:gd name="adj" fmla="val 6250"/>
            </a:avLst>
          </a:prstGeom>
          <a:solidFill>
            <a:srgbClr val="1E3A5F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11"/>
          <p:cNvSpPr/>
          <p:nvPr/>
        </p:nvSpPr>
        <p:spPr>
          <a:xfrm>
            <a:off x="4709160" y="1691640"/>
            <a:ext cx="1188000" cy="346680"/>
          </a:xfrm>
          <a:prstGeom prst="roundRect">
            <a:avLst>
              <a:gd name="adj" fmla="val 15789"/>
            </a:avLst>
          </a:prstGeom>
          <a:solidFill>
            <a:srgbClr val="22C55E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4709160" y="1691640"/>
            <a:ext cx="1188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Real hardware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4663440" y="208476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Courier New"/>
                <a:ea typeface="Courier New"/>
              </a:rPr>
              <a:t>SLEEP_MODE_PWR_SAVE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"/>
          <p:cNvSpPr/>
          <p:nvPr/>
        </p:nvSpPr>
        <p:spPr>
          <a:xfrm>
            <a:off x="4663440" y="2423160"/>
            <a:ext cx="3931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Stops CPU + sync clocks.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Async Timer2 keeps running from crystal.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15"/>
          <p:cNvSpPr/>
          <p:nvPr/>
        </p:nvSpPr>
        <p:spPr>
          <a:xfrm>
            <a:off x="4663440" y="3383280"/>
            <a:ext cx="4022640" cy="1462320"/>
          </a:xfrm>
          <a:prstGeom prst="roundRect">
            <a:avLst>
              <a:gd name="adj" fmla="val 6250"/>
            </a:avLst>
          </a:prstGeom>
          <a:solidFill>
            <a:srgbClr val="1E3A5F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6"/>
          <p:cNvSpPr/>
          <p:nvPr/>
        </p:nvSpPr>
        <p:spPr>
          <a:xfrm>
            <a:off x="4709160" y="3429000"/>
            <a:ext cx="1188000" cy="346680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7"/>
          <p:cNvSpPr/>
          <p:nvPr/>
        </p:nvSpPr>
        <p:spPr>
          <a:xfrm>
            <a:off x="4709160" y="3429000"/>
            <a:ext cx="11880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SimulIDE fallback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8"/>
          <p:cNvSpPr/>
          <p:nvPr/>
        </p:nvSpPr>
        <p:spPr>
          <a:xfrm>
            <a:off x="4663440" y="382212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urier New"/>
                <a:ea typeface="Courier New"/>
              </a:rPr>
              <a:t>SLEEP_MODE_IDLE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9"/>
          <p:cNvSpPr/>
          <p:nvPr/>
        </p:nvSpPr>
        <p:spPr>
          <a:xfrm>
            <a:off x="4663440" y="4160520"/>
            <a:ext cx="393120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Stops only CPU.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Keeps sync clocks — needed for CTC fallback.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SimulIDE: Limitation &amp; Fallback Solution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2"/>
          <p:cNvSpPr/>
          <p:nvPr/>
        </p:nvSpPr>
        <p:spPr>
          <a:xfrm>
            <a:off x="274320" y="914400"/>
            <a:ext cx="4022640" cy="2102400"/>
          </a:xfrm>
          <a:prstGeom prst="roundRect">
            <a:avLst>
              <a:gd name="adj" fmla="val 5217"/>
            </a:avLst>
          </a:prstGeom>
          <a:solidFill>
            <a:srgbClr val="2A1A0A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3" name="Image 0" descr="preencoded.png"/>
          <p:cNvPicPr/>
          <p:nvPr/>
        </p:nvPicPr>
        <p:blipFill>
          <a:blip r:embed="rId1"/>
          <a:stretch/>
        </p:blipFill>
        <p:spPr>
          <a:xfrm>
            <a:off x="457200" y="105156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Text 3"/>
          <p:cNvSpPr/>
          <p:nvPr/>
        </p:nvSpPr>
        <p:spPr>
          <a:xfrm>
            <a:off x="914400" y="1051560"/>
            <a:ext cx="32911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mbria"/>
                <a:ea typeface="Cambria"/>
              </a:rPr>
              <a:t>SimulIDE Cannot Model TOSC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365760" y="1508760"/>
            <a:ext cx="374832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Without SIMULIDE_MODE flag: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Timer2 waits for crystal that never starts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ASSR busy flags never clear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enter_sleep() → CPU parks permanently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Serial output stops after one 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5"/>
          <p:cNvSpPr/>
          <p:nvPr/>
        </p:nvSpPr>
        <p:spPr>
          <a:xfrm>
            <a:off x="4572000" y="914400"/>
            <a:ext cx="4296960" cy="2102400"/>
          </a:xfrm>
          <a:prstGeom prst="roundRect">
            <a:avLst>
              <a:gd name="adj" fmla="val 5217"/>
            </a:avLst>
          </a:prstGeom>
          <a:solidFill>
            <a:srgbClr val="0A1A0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1" descr="preencoded.png"/>
          <p:cNvPicPr/>
          <p:nvPr/>
        </p:nvPicPr>
        <p:blipFill>
          <a:blip r:embed="rId2"/>
          <a:stretch/>
        </p:blipFill>
        <p:spPr>
          <a:xfrm>
            <a:off x="4754880" y="1051560"/>
            <a:ext cx="365040" cy="365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6"/>
          <p:cNvSpPr/>
          <p:nvPr/>
        </p:nvSpPr>
        <p:spPr>
          <a:xfrm>
            <a:off x="5212080" y="1051560"/>
            <a:ext cx="356544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2C55E"/>
                </a:solidFill>
                <a:effectLst/>
                <a:uFillTx/>
                <a:latin typeface="Cambria"/>
                <a:ea typeface="Cambria"/>
              </a:rPr>
              <a:t>SIMULIDE_MODE Fallback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4663440" y="1508760"/>
            <a:ext cx="4022640" cy="137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Compile with:  </a:t>
            </a:r>
            <a:r>
              <a:rPr lang="en-US" sz="1200" b="1" u="none" strike="noStrike">
                <a:solidFill>
                  <a:srgbClr val="00FF99"/>
                </a:solidFill>
                <a:effectLst/>
                <a:uFillTx/>
                <a:latin typeface="Calibri"/>
                <a:ea typeface="Calibri"/>
              </a:rPr>
              <a:t>make simulide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Timer2 → CTC mode, internal 8 MHz clock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OCR2=77, /1024 → ~100 ticks/second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ISR accumulates 100 ticks = 1 second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• SLEEP_MODE_IDLE keeps sync clock alive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274320" y="3154680"/>
            <a:ext cx="8594640" cy="1690920"/>
          </a:xfrm>
          <a:prstGeom prst="roundRect">
            <a:avLst>
              <a:gd name="adj" fmla="val 5405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457200" y="3218760"/>
            <a:ext cx="4571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What's different vs. what stays the same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320040" y="3566160"/>
            <a:ext cx="3565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1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 11"/>
          <p:cNvSpPr/>
          <p:nvPr/>
        </p:nvSpPr>
        <p:spPr>
          <a:xfrm>
            <a:off x="4160520" y="3566160"/>
            <a:ext cx="2376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Real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2"/>
          <p:cNvSpPr/>
          <p:nvPr/>
        </p:nvSpPr>
        <p:spPr>
          <a:xfrm>
            <a:off x="6629400" y="356616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SimulIDE Fallback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320040" y="3840480"/>
            <a:ext cx="3565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Timer2 clock source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4160520" y="3840480"/>
            <a:ext cx="2376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32.768 kHz TOSC crystal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15"/>
          <p:cNvSpPr/>
          <p:nvPr/>
        </p:nvSpPr>
        <p:spPr>
          <a:xfrm>
            <a:off x="6629400" y="384048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8 MHz internal CPU clock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320040" y="4114800"/>
            <a:ext cx="3565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Timer2 mode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4160520" y="4114800"/>
            <a:ext cx="2376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Normal (overflow)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8"/>
          <p:cNvSpPr/>
          <p:nvPr/>
        </p:nvSpPr>
        <p:spPr>
          <a:xfrm>
            <a:off x="6629400" y="411480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CTC (compare match)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320040" y="4389120"/>
            <a:ext cx="3565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 mode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4160520" y="4389120"/>
            <a:ext cx="2376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SLEEP_MODE_PWR_SAVE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21"/>
          <p:cNvSpPr/>
          <p:nvPr/>
        </p:nvSpPr>
        <p:spPr>
          <a:xfrm>
            <a:off x="6629400" y="438912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SLEEP_MODE_IDLE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2"/>
          <p:cNvSpPr/>
          <p:nvPr/>
        </p:nvSpPr>
        <p:spPr>
          <a:xfrm>
            <a:off x="320040" y="4663440"/>
            <a:ext cx="356544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All application logic (clock/alarm/LED/buzzer/USART/buttons)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4160520" y="4663440"/>
            <a:ext cx="237672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IDENTICAL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6629400" y="4663440"/>
            <a:ext cx="24681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IDENTICAL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D1B2A"/>
                </a:solidFill>
                <a:effectLst/>
                <a:uFillTx/>
                <a:latin typeface="Cambria"/>
                <a:ea typeface="Cambria"/>
              </a:rPr>
              <a:t>Simulation Results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3"/>
          <p:cNvSpPr/>
          <p:nvPr/>
        </p:nvSpPr>
        <p:spPr>
          <a:xfrm>
            <a:off x="228600" y="914400"/>
            <a:ext cx="2742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4"/>
          <p:cNvSpPr/>
          <p:nvPr/>
        </p:nvSpPr>
        <p:spPr>
          <a:xfrm>
            <a:off x="228600" y="324612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TC-01: Boot + 00:00:00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5"/>
          <p:cNvSpPr/>
          <p:nvPr/>
        </p:nvSpPr>
        <p:spPr>
          <a:xfrm>
            <a:off x="228600" y="35204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System initialises correctly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7"/>
          <p:cNvSpPr/>
          <p:nvPr/>
        </p:nvSpPr>
        <p:spPr>
          <a:xfrm>
            <a:off x="3154680" y="914400"/>
            <a:ext cx="2742480" cy="22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8"/>
          <p:cNvSpPr/>
          <p:nvPr/>
        </p:nvSpPr>
        <p:spPr>
          <a:xfrm>
            <a:off x="3154680" y="324612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TC-02: Seconds increment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9"/>
          <p:cNvSpPr/>
          <p:nvPr/>
        </p:nvSpPr>
        <p:spPr>
          <a:xfrm>
            <a:off x="3154680" y="35204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Timer2 counting in real time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2"/>
          <p:cNvSpPr/>
          <p:nvPr/>
        </p:nvSpPr>
        <p:spPr>
          <a:xfrm>
            <a:off x="6080760" y="3246120"/>
            <a:ext cx="2742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TC-04: SET ALARM mode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3"/>
          <p:cNvSpPr/>
          <p:nvPr/>
        </p:nvSpPr>
        <p:spPr>
          <a:xfrm>
            <a:off x="6080760" y="3520440"/>
            <a:ext cx="27424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Alarm set and buzzer fires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4"/>
          <p:cNvSpPr/>
          <p:nvPr/>
        </p:nvSpPr>
        <p:spPr>
          <a:xfrm>
            <a:off x="274320" y="3886200"/>
            <a:ext cx="8594640" cy="1005120"/>
          </a:xfrm>
          <a:prstGeom prst="roundRect">
            <a:avLst>
              <a:gd name="adj" fmla="val 9091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5"/>
          <p:cNvSpPr/>
          <p:nvPr/>
        </p:nvSpPr>
        <p:spPr>
          <a:xfrm>
            <a:off x="41148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6"/>
          <p:cNvSpPr/>
          <p:nvPr/>
        </p:nvSpPr>
        <p:spPr>
          <a:xfrm>
            <a:off x="41148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7"/>
          <p:cNvSpPr/>
          <p:nvPr/>
        </p:nvSpPr>
        <p:spPr>
          <a:xfrm>
            <a:off x="41148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Boot / Reset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8"/>
          <p:cNvSpPr/>
          <p:nvPr/>
        </p:nvSpPr>
        <p:spPr>
          <a:xfrm>
            <a:off x="184716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9"/>
          <p:cNvSpPr/>
          <p:nvPr/>
        </p:nvSpPr>
        <p:spPr>
          <a:xfrm>
            <a:off x="184716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0"/>
          <p:cNvSpPr/>
          <p:nvPr/>
        </p:nvSpPr>
        <p:spPr>
          <a:xfrm>
            <a:off x="184716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Clock counts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21"/>
          <p:cNvSpPr/>
          <p:nvPr/>
        </p:nvSpPr>
        <p:spPr>
          <a:xfrm>
            <a:off x="328284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2"/>
          <p:cNvSpPr/>
          <p:nvPr/>
        </p:nvSpPr>
        <p:spPr>
          <a:xfrm>
            <a:off x="328284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3"/>
          <p:cNvSpPr/>
          <p:nvPr/>
        </p:nvSpPr>
        <p:spPr>
          <a:xfrm>
            <a:off x="328284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LED heartbeat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4"/>
          <p:cNvSpPr/>
          <p:nvPr/>
        </p:nvSpPr>
        <p:spPr>
          <a:xfrm>
            <a:off x="471816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25"/>
          <p:cNvSpPr/>
          <p:nvPr/>
        </p:nvSpPr>
        <p:spPr>
          <a:xfrm>
            <a:off x="471816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6"/>
          <p:cNvSpPr/>
          <p:nvPr/>
        </p:nvSpPr>
        <p:spPr>
          <a:xfrm>
            <a:off x="471816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Alarm / buzzer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7"/>
          <p:cNvSpPr/>
          <p:nvPr/>
        </p:nvSpPr>
        <p:spPr>
          <a:xfrm>
            <a:off x="615384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28"/>
          <p:cNvSpPr/>
          <p:nvPr/>
        </p:nvSpPr>
        <p:spPr>
          <a:xfrm>
            <a:off x="615384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9"/>
          <p:cNvSpPr/>
          <p:nvPr/>
        </p:nvSpPr>
        <p:spPr>
          <a:xfrm>
            <a:off x="615384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Reset button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30"/>
          <p:cNvSpPr/>
          <p:nvPr/>
        </p:nvSpPr>
        <p:spPr>
          <a:xfrm>
            <a:off x="7589520" y="4005000"/>
            <a:ext cx="1325160" cy="776520"/>
          </a:xfrm>
          <a:prstGeom prst="roundRect">
            <a:avLst>
              <a:gd name="adj" fmla="val 9412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1"/>
          <p:cNvSpPr/>
          <p:nvPr/>
        </p:nvSpPr>
        <p:spPr>
          <a:xfrm>
            <a:off x="7589520" y="4005000"/>
            <a:ext cx="13251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✓ PASS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2"/>
          <p:cNvSpPr/>
          <p:nvPr/>
        </p:nvSpPr>
        <p:spPr>
          <a:xfrm>
            <a:off x="7589520" y="4297680"/>
            <a:ext cx="132516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TC-06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 (docs)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"/>
          <p:cNvPicPr/>
          <p:nvPr/>
        </p:nvPicPr>
        <p:blipFill>
          <a:blip r:embed="rId1"/>
          <a:stretch/>
        </p:blipFill>
        <p:spPr>
          <a:xfrm>
            <a:off x="457200" y="1170000"/>
            <a:ext cx="2475000" cy="180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"/>
          <p:cNvPicPr/>
          <p:nvPr/>
        </p:nvPicPr>
        <p:blipFill>
          <a:blip r:embed="rId2"/>
          <a:stretch/>
        </p:blipFill>
        <p:spPr>
          <a:xfrm>
            <a:off x="5943600" y="914400"/>
            <a:ext cx="2971440" cy="2331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8" name=""/>
          <p:cNvPicPr/>
          <p:nvPr/>
        </p:nvPicPr>
        <p:blipFill>
          <a:blip r:embed="rId3"/>
          <a:stretch/>
        </p:blipFill>
        <p:spPr>
          <a:xfrm>
            <a:off x="3200400" y="914400"/>
            <a:ext cx="2537640" cy="2105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182880"/>
            <a:ext cx="82288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Key Learning Outcomes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457200" y="731520"/>
            <a:ext cx="8228880" cy="36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2"/>
          <p:cNvSpPr/>
          <p:nvPr/>
        </p:nvSpPr>
        <p:spPr>
          <a:xfrm>
            <a:off x="274320" y="914400"/>
            <a:ext cx="4114080" cy="1782360"/>
          </a:xfrm>
          <a:prstGeom prst="roundRect">
            <a:avLst>
              <a:gd name="adj" fmla="val 6154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3"/>
          <p:cNvSpPr/>
          <p:nvPr/>
        </p:nvSpPr>
        <p:spPr>
          <a:xfrm>
            <a:off x="365760" y="1024200"/>
            <a:ext cx="502200" cy="502200"/>
          </a:xfrm>
          <a:prstGeom prst="roundRect">
            <a:avLst>
              <a:gd name="adj" fmla="val 14545"/>
            </a:avLst>
          </a:prstGeom>
          <a:solidFill>
            <a:srgbClr val="0077A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3" name="Image 0" descr="preencoded.png"/>
          <p:cNvPicPr/>
          <p:nvPr/>
        </p:nvPicPr>
        <p:blipFill>
          <a:blip r:embed="rId1"/>
          <a:stretch/>
        </p:blipFill>
        <p:spPr>
          <a:xfrm>
            <a:off x="384120" y="1042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Shape 4"/>
          <p:cNvSpPr/>
          <p:nvPr/>
        </p:nvSpPr>
        <p:spPr>
          <a:xfrm>
            <a:off x="932760" y="102420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0A2A0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5"/>
          <p:cNvSpPr/>
          <p:nvPr/>
        </p:nvSpPr>
        <p:spPr>
          <a:xfrm>
            <a:off x="932760" y="10242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6"/>
          <p:cNvSpPr/>
          <p:nvPr/>
        </p:nvSpPr>
        <p:spPr>
          <a:xfrm>
            <a:off x="365760" y="16002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Async Peripheral Operation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7"/>
          <p:cNvSpPr/>
          <p:nvPr/>
        </p:nvSpPr>
        <p:spPr>
          <a:xfrm>
            <a:off x="365760" y="1938600"/>
            <a:ext cx="3839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Timer2 is unique among ATmega32 timers — only it can be decoupled from the CPU clock via TOSC pins. This decoupling enables hardware timekeeping independent of CPU state.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8"/>
          <p:cNvSpPr/>
          <p:nvPr/>
        </p:nvSpPr>
        <p:spPr>
          <a:xfrm>
            <a:off x="4754880" y="914400"/>
            <a:ext cx="4114080" cy="1782360"/>
          </a:xfrm>
          <a:prstGeom prst="roundRect">
            <a:avLst>
              <a:gd name="adj" fmla="val 6154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9"/>
          <p:cNvSpPr/>
          <p:nvPr/>
        </p:nvSpPr>
        <p:spPr>
          <a:xfrm>
            <a:off x="4846320" y="1024200"/>
            <a:ext cx="502200" cy="502200"/>
          </a:xfrm>
          <a:prstGeom prst="roundRect">
            <a:avLst>
              <a:gd name="adj" fmla="val 14545"/>
            </a:avLst>
          </a:prstGeom>
          <a:solidFill>
            <a:srgbClr val="0077A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0" name="Image 1" descr="preencoded.png"/>
          <p:cNvPicPr/>
          <p:nvPr/>
        </p:nvPicPr>
        <p:blipFill>
          <a:blip r:embed="rId2"/>
          <a:stretch/>
        </p:blipFill>
        <p:spPr>
          <a:xfrm>
            <a:off x="4864680" y="104256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Shape 10"/>
          <p:cNvSpPr/>
          <p:nvPr/>
        </p:nvSpPr>
        <p:spPr>
          <a:xfrm>
            <a:off x="5413320" y="102420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0A2A0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1"/>
          <p:cNvSpPr/>
          <p:nvPr/>
        </p:nvSpPr>
        <p:spPr>
          <a:xfrm>
            <a:off x="5413320" y="102420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2"/>
          <p:cNvSpPr/>
          <p:nvPr/>
        </p:nvSpPr>
        <p:spPr>
          <a:xfrm>
            <a:off x="4846320" y="16002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Clock Domain Crossing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3"/>
          <p:cNvSpPr/>
          <p:nvPr/>
        </p:nvSpPr>
        <p:spPr>
          <a:xfrm>
            <a:off x="4846320" y="1938600"/>
            <a:ext cx="3839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Registers that cross clock domains require explicit synchronisation. The ASSR busy-flag wait loop is mandatory; skipping it produces a silent, hard-to-diagnose bug.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14"/>
          <p:cNvSpPr/>
          <p:nvPr/>
        </p:nvSpPr>
        <p:spPr>
          <a:xfrm>
            <a:off x="274320" y="2880360"/>
            <a:ext cx="4114080" cy="1782360"/>
          </a:xfrm>
          <a:prstGeom prst="roundRect">
            <a:avLst>
              <a:gd name="adj" fmla="val 6154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5"/>
          <p:cNvSpPr/>
          <p:nvPr/>
        </p:nvSpPr>
        <p:spPr>
          <a:xfrm>
            <a:off x="365760" y="2990160"/>
            <a:ext cx="502200" cy="502200"/>
          </a:xfrm>
          <a:prstGeom prst="roundRect">
            <a:avLst>
              <a:gd name="adj" fmla="val 14545"/>
            </a:avLst>
          </a:prstGeom>
          <a:solidFill>
            <a:srgbClr val="0077A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7" name="Image 2" descr="preencoded.png"/>
          <p:cNvPicPr/>
          <p:nvPr/>
        </p:nvPicPr>
        <p:blipFill>
          <a:blip r:embed="rId3"/>
          <a:stretch/>
        </p:blipFill>
        <p:spPr>
          <a:xfrm>
            <a:off x="384120" y="30085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Shape 16"/>
          <p:cNvSpPr/>
          <p:nvPr/>
        </p:nvSpPr>
        <p:spPr>
          <a:xfrm>
            <a:off x="932760" y="299016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0A2A0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7"/>
          <p:cNvSpPr/>
          <p:nvPr/>
        </p:nvSpPr>
        <p:spPr>
          <a:xfrm>
            <a:off x="932760" y="29901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8"/>
          <p:cNvSpPr/>
          <p:nvPr/>
        </p:nvSpPr>
        <p:spPr>
          <a:xfrm>
            <a:off x="365760" y="35661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Sleep Mode Mechanics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9"/>
          <p:cNvSpPr/>
          <p:nvPr/>
        </p:nvSpPr>
        <p:spPr>
          <a:xfrm>
            <a:off x="365760" y="3904560"/>
            <a:ext cx="3839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SLEEP_MODE_PWR_SAVE stops all synchronous clocks but preserves the async Timer2 domain. Pairing it with a synchronous-clocked Timer2 (fallback) creates a deadlock — the correct fix is SLEEP_MODE_IDLE.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0"/>
          <p:cNvSpPr/>
          <p:nvPr/>
        </p:nvSpPr>
        <p:spPr>
          <a:xfrm>
            <a:off x="4754880" y="2880360"/>
            <a:ext cx="4114080" cy="1782360"/>
          </a:xfrm>
          <a:prstGeom prst="roundRect">
            <a:avLst>
              <a:gd name="adj" fmla="val 6154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21"/>
          <p:cNvSpPr/>
          <p:nvPr/>
        </p:nvSpPr>
        <p:spPr>
          <a:xfrm>
            <a:off x="4846320" y="2990160"/>
            <a:ext cx="502200" cy="502200"/>
          </a:xfrm>
          <a:prstGeom prst="roundRect">
            <a:avLst>
              <a:gd name="adj" fmla="val 14545"/>
            </a:avLst>
          </a:prstGeom>
          <a:solidFill>
            <a:srgbClr val="0077A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3" descr="preencoded.png"/>
          <p:cNvPicPr/>
          <p:nvPr/>
        </p:nvPicPr>
        <p:blipFill>
          <a:blip r:embed="rId4"/>
          <a:stretch/>
        </p:blipFill>
        <p:spPr>
          <a:xfrm>
            <a:off x="4864680" y="3008520"/>
            <a:ext cx="456480" cy="4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Shape 22"/>
          <p:cNvSpPr/>
          <p:nvPr/>
        </p:nvSpPr>
        <p:spPr>
          <a:xfrm>
            <a:off x="5413320" y="2990160"/>
            <a:ext cx="456480" cy="456480"/>
          </a:xfrm>
          <a:prstGeom prst="roundRect">
            <a:avLst>
              <a:gd name="adj" fmla="val 12000"/>
            </a:avLst>
          </a:prstGeom>
          <a:solidFill>
            <a:srgbClr val="0A2A0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3"/>
          <p:cNvSpPr/>
          <p:nvPr/>
        </p:nvSpPr>
        <p:spPr>
          <a:xfrm>
            <a:off x="5413320" y="2990160"/>
            <a:ext cx="4564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22C55E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24"/>
          <p:cNvSpPr/>
          <p:nvPr/>
        </p:nvSpPr>
        <p:spPr>
          <a:xfrm>
            <a:off x="4846320" y="356616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B4D8"/>
                </a:solidFill>
                <a:effectLst/>
                <a:uFillTx/>
                <a:latin typeface="Cambria"/>
                <a:ea typeface="Cambria"/>
              </a:rPr>
              <a:t>USART Baud Rate Sensitivity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25"/>
          <p:cNvSpPr/>
          <p:nvPr/>
        </p:nvSpPr>
        <p:spPr>
          <a:xfrm>
            <a:off x="4846320" y="3904560"/>
            <a:ext cx="38397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UBRR is computed from F_CPU. A MCU clock mismatch between firmware and simulator (16 MHz vs 8 MHz) garbles every byte. Matching both values is the first debug step for garbled serial.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274320" y="137160"/>
            <a:ext cx="1828080" cy="365040"/>
          </a:xfrm>
          <a:prstGeom prst="roundRect">
            <a:avLst>
              <a:gd name="adj" fmla="val 20000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274320" y="137160"/>
            <a:ext cx="1828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EXTENSION TASK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2"/>
          <p:cNvSpPr/>
          <p:nvPr/>
        </p:nvSpPr>
        <p:spPr>
          <a:xfrm>
            <a:off x="2286000" y="137160"/>
            <a:ext cx="6400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070C0"/>
                </a:solidFill>
                <a:effectLst/>
                <a:uFillTx/>
                <a:latin typeface="Cambria"/>
                <a:ea typeface="Cambria"/>
              </a:rPr>
              <a:t>Periodic Sensor Logging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3"/>
          <p:cNvSpPr/>
          <p:nvPr/>
        </p:nvSpPr>
        <p:spPr>
          <a:xfrm>
            <a:off x="274320" y="640080"/>
            <a:ext cx="8594640" cy="3600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4"/>
          <p:cNvSpPr/>
          <p:nvPr/>
        </p:nvSpPr>
        <p:spPr>
          <a:xfrm>
            <a:off x="320040" y="777240"/>
            <a:ext cx="850320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Extend the base system: wake every N seconds → read ADC sensor → log to EEPROM → sleep again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5"/>
          <p:cNvSpPr/>
          <p:nvPr/>
        </p:nvSpPr>
        <p:spPr>
          <a:xfrm>
            <a:off x="27432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D3349"/>
          </a:solidFill>
          <a:ln w="12700">
            <a:solidFill>
              <a:srgbClr val="7FB3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"/>
          <p:cNvSpPr/>
          <p:nvPr/>
        </p:nvSpPr>
        <p:spPr>
          <a:xfrm>
            <a:off x="27432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Power-Save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7"/>
          <p:cNvSpPr/>
          <p:nvPr/>
        </p:nvSpPr>
        <p:spPr>
          <a:xfrm>
            <a:off x="141732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8"/>
          <p:cNvSpPr/>
          <p:nvPr/>
        </p:nvSpPr>
        <p:spPr>
          <a:xfrm>
            <a:off x="152712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A3D1A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9"/>
          <p:cNvSpPr/>
          <p:nvPr/>
        </p:nvSpPr>
        <p:spPr>
          <a:xfrm>
            <a:off x="152712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Timer2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Overflow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0"/>
          <p:cNvSpPr/>
          <p:nvPr/>
        </p:nvSpPr>
        <p:spPr>
          <a:xfrm>
            <a:off x="267012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1"/>
          <p:cNvSpPr/>
          <p:nvPr/>
        </p:nvSpPr>
        <p:spPr>
          <a:xfrm>
            <a:off x="277992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D3349"/>
          </a:solidFill>
          <a:ln w="12700">
            <a:solidFill>
              <a:srgbClr val="7FB3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2"/>
          <p:cNvSpPr/>
          <p:nvPr/>
        </p:nvSpPr>
        <p:spPr>
          <a:xfrm>
            <a:off x="277992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Normal ISR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(clock/alarm)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3"/>
          <p:cNvSpPr/>
          <p:nvPr/>
        </p:nvSpPr>
        <p:spPr>
          <a:xfrm>
            <a:off x="392292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4"/>
          <p:cNvSpPr/>
          <p:nvPr/>
        </p:nvSpPr>
        <p:spPr>
          <a:xfrm>
            <a:off x="403236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A3D2A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5"/>
          <p:cNvSpPr/>
          <p:nvPr/>
        </p:nvSpPr>
        <p:spPr>
          <a:xfrm>
            <a:off x="403236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Every 60s: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g_log_pending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6"/>
          <p:cNvSpPr/>
          <p:nvPr/>
        </p:nvSpPr>
        <p:spPr>
          <a:xfrm>
            <a:off x="517536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7"/>
          <p:cNvSpPr/>
          <p:nvPr/>
        </p:nvSpPr>
        <p:spPr>
          <a:xfrm>
            <a:off x="528516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A204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8"/>
          <p:cNvSpPr/>
          <p:nvPr/>
        </p:nvSpPr>
        <p:spPr>
          <a:xfrm>
            <a:off x="528516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ADC read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(sensor value)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9"/>
          <p:cNvSpPr/>
          <p:nvPr/>
        </p:nvSpPr>
        <p:spPr>
          <a:xfrm>
            <a:off x="642816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0"/>
          <p:cNvSpPr/>
          <p:nvPr/>
        </p:nvSpPr>
        <p:spPr>
          <a:xfrm>
            <a:off x="653796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A2040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1"/>
          <p:cNvSpPr/>
          <p:nvPr/>
        </p:nvSpPr>
        <p:spPr>
          <a:xfrm>
            <a:off x="653796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Write 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EEPROM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22"/>
          <p:cNvSpPr/>
          <p:nvPr/>
        </p:nvSpPr>
        <p:spPr>
          <a:xfrm>
            <a:off x="7680960" y="1417320"/>
            <a:ext cx="10908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FB3CC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23"/>
          <p:cNvSpPr/>
          <p:nvPr/>
        </p:nvSpPr>
        <p:spPr>
          <a:xfrm>
            <a:off x="7790760" y="1261800"/>
            <a:ext cx="1142280" cy="712440"/>
          </a:xfrm>
          <a:prstGeom prst="roundRect">
            <a:avLst>
              <a:gd name="adj" fmla="val 10256"/>
            </a:avLst>
          </a:prstGeom>
          <a:solidFill>
            <a:srgbClr val="0D3349"/>
          </a:solidFill>
          <a:ln w="1270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24"/>
          <p:cNvSpPr/>
          <p:nvPr/>
        </p:nvSpPr>
        <p:spPr>
          <a:xfrm>
            <a:off x="7790760" y="1261800"/>
            <a:ext cx="114228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Back to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Sleep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25"/>
          <p:cNvSpPr/>
          <p:nvPr/>
        </p:nvSpPr>
        <p:spPr>
          <a:xfrm>
            <a:off x="274320" y="2148840"/>
            <a:ext cx="4114080" cy="2605320"/>
          </a:xfrm>
          <a:prstGeom prst="roundRect">
            <a:avLst>
              <a:gd name="adj" fmla="val 4211"/>
            </a:avLst>
          </a:prstGeom>
          <a:solidFill>
            <a:srgbClr val="F0F7FF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6"/>
          <p:cNvSpPr/>
          <p:nvPr/>
        </p:nvSpPr>
        <p:spPr>
          <a:xfrm>
            <a:off x="365760" y="224028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70C0"/>
                </a:solidFill>
                <a:effectLst/>
                <a:uFillTx/>
                <a:latin typeface="Cambria"/>
                <a:ea typeface="Cambria"/>
              </a:rPr>
              <a:t>EEPROM Log Record (10 bytes)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7"/>
          <p:cNvSpPr/>
          <p:nvPr/>
        </p:nvSpPr>
        <p:spPr>
          <a:xfrm>
            <a:off x="365760" y="2651760"/>
            <a:ext cx="1279440" cy="319320"/>
          </a:xfrm>
          <a:prstGeom prst="roundRect">
            <a:avLst>
              <a:gd name="adj" fmla="val 17143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28"/>
          <p:cNvSpPr/>
          <p:nvPr/>
        </p:nvSpPr>
        <p:spPr>
          <a:xfrm>
            <a:off x="365760" y="265176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Offset 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9"/>
          <p:cNvSpPr/>
          <p:nvPr/>
        </p:nvSpPr>
        <p:spPr>
          <a:xfrm>
            <a:off x="1737360" y="265176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Hours (0–23)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0"/>
          <p:cNvSpPr/>
          <p:nvPr/>
        </p:nvSpPr>
        <p:spPr>
          <a:xfrm>
            <a:off x="365760" y="3035880"/>
            <a:ext cx="1279440" cy="319320"/>
          </a:xfrm>
          <a:prstGeom prst="roundRect">
            <a:avLst>
              <a:gd name="adj" fmla="val 17143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1"/>
          <p:cNvSpPr/>
          <p:nvPr/>
        </p:nvSpPr>
        <p:spPr>
          <a:xfrm>
            <a:off x="365760" y="303588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Offset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32"/>
          <p:cNvSpPr/>
          <p:nvPr/>
        </p:nvSpPr>
        <p:spPr>
          <a:xfrm>
            <a:off x="1737360" y="303588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Minutes (0–59)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Shape 33"/>
          <p:cNvSpPr/>
          <p:nvPr/>
        </p:nvSpPr>
        <p:spPr>
          <a:xfrm>
            <a:off x="365760" y="3420000"/>
            <a:ext cx="1279440" cy="319320"/>
          </a:xfrm>
          <a:prstGeom prst="roundRect">
            <a:avLst>
              <a:gd name="adj" fmla="val 17143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4"/>
          <p:cNvSpPr/>
          <p:nvPr/>
        </p:nvSpPr>
        <p:spPr>
          <a:xfrm>
            <a:off x="365760" y="342000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Offset 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5"/>
          <p:cNvSpPr/>
          <p:nvPr/>
        </p:nvSpPr>
        <p:spPr>
          <a:xfrm>
            <a:off x="1737360" y="342000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Seconds (0–59)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6"/>
          <p:cNvSpPr/>
          <p:nvPr/>
        </p:nvSpPr>
        <p:spPr>
          <a:xfrm>
            <a:off x="365760" y="3803760"/>
            <a:ext cx="1279440" cy="319320"/>
          </a:xfrm>
          <a:prstGeom prst="roundRect">
            <a:avLst>
              <a:gd name="adj" fmla="val 17143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7"/>
          <p:cNvSpPr/>
          <p:nvPr/>
        </p:nvSpPr>
        <p:spPr>
          <a:xfrm>
            <a:off x="365760" y="380376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Offset 3–4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38"/>
          <p:cNvSpPr/>
          <p:nvPr/>
        </p:nvSpPr>
        <p:spPr>
          <a:xfrm>
            <a:off x="1737360" y="380376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ADC value (0–1023, 10-bit)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39"/>
          <p:cNvSpPr/>
          <p:nvPr/>
        </p:nvSpPr>
        <p:spPr>
          <a:xfrm>
            <a:off x="365760" y="4187880"/>
            <a:ext cx="1279440" cy="319320"/>
          </a:xfrm>
          <a:prstGeom prst="roundRect">
            <a:avLst>
              <a:gd name="adj" fmla="val 17143"/>
            </a:avLst>
          </a:prstGeom>
          <a:solidFill>
            <a:srgbClr val="0070C0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40"/>
          <p:cNvSpPr/>
          <p:nvPr/>
        </p:nvSpPr>
        <p:spPr>
          <a:xfrm>
            <a:off x="365760" y="4187880"/>
            <a:ext cx="12794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Offset 5–9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41"/>
          <p:cNvSpPr/>
          <p:nvPr/>
        </p:nvSpPr>
        <p:spPr>
          <a:xfrm>
            <a:off x="1737360" y="4187880"/>
            <a:ext cx="25596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Reserved / checksum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2"/>
          <p:cNvSpPr/>
          <p:nvPr/>
        </p:nvSpPr>
        <p:spPr>
          <a:xfrm>
            <a:off x="4572000" y="2148840"/>
            <a:ext cx="4296960" cy="2605320"/>
          </a:xfrm>
          <a:prstGeom prst="roundRect">
            <a:avLst>
              <a:gd name="adj" fmla="val 4211"/>
            </a:avLst>
          </a:prstGeom>
          <a:solidFill>
            <a:srgbClr val="F0F7FF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43"/>
          <p:cNvSpPr/>
          <p:nvPr/>
        </p:nvSpPr>
        <p:spPr>
          <a:xfrm>
            <a:off x="4663440" y="2240280"/>
            <a:ext cx="4022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070C0"/>
                </a:solidFill>
                <a:effectLst/>
                <a:uFillTx/>
                <a:latin typeface="Cambria"/>
                <a:ea typeface="Cambria"/>
              </a:rPr>
              <a:t>Power Budget (60s log interval)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44"/>
          <p:cNvSpPr/>
          <p:nvPr/>
        </p:nvSpPr>
        <p:spPr>
          <a:xfrm>
            <a:off x="4663440" y="2651760"/>
            <a:ext cx="4022640" cy="346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DE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45"/>
          <p:cNvSpPr/>
          <p:nvPr/>
        </p:nvSpPr>
        <p:spPr>
          <a:xfrm>
            <a:off x="4709160" y="265176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Power-Save sleep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46"/>
          <p:cNvSpPr/>
          <p:nvPr/>
        </p:nvSpPr>
        <p:spPr>
          <a:xfrm>
            <a:off x="6537960" y="265176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~59.9 s / min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7"/>
          <p:cNvSpPr/>
          <p:nvPr/>
        </p:nvSpPr>
        <p:spPr>
          <a:xfrm>
            <a:off x="7543800" y="265176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~16 µA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8"/>
          <p:cNvSpPr/>
          <p:nvPr/>
        </p:nvSpPr>
        <p:spPr>
          <a:xfrm>
            <a:off x="4663440" y="3035880"/>
            <a:ext cx="4022640" cy="346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DE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49"/>
          <p:cNvSpPr/>
          <p:nvPr/>
        </p:nvSpPr>
        <p:spPr>
          <a:xfrm>
            <a:off x="4709160" y="303588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ISR (1s × 60)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0"/>
          <p:cNvSpPr/>
          <p:nvPr/>
        </p:nvSpPr>
        <p:spPr>
          <a:xfrm>
            <a:off x="6537960" y="303588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~50 µs × 60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51"/>
          <p:cNvSpPr/>
          <p:nvPr/>
        </p:nvSpPr>
        <p:spPr>
          <a:xfrm>
            <a:off x="7543800" y="303588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~8 mA (brief)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52"/>
          <p:cNvSpPr/>
          <p:nvPr/>
        </p:nvSpPr>
        <p:spPr>
          <a:xfrm>
            <a:off x="4663440" y="3420000"/>
            <a:ext cx="4022640" cy="346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DE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53"/>
          <p:cNvSpPr/>
          <p:nvPr/>
        </p:nvSpPr>
        <p:spPr>
          <a:xfrm>
            <a:off x="4709160" y="342000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ADC + USART log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54"/>
          <p:cNvSpPr/>
          <p:nvPr/>
        </p:nvSpPr>
        <p:spPr>
          <a:xfrm>
            <a:off x="6537960" y="342000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~5 ms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55"/>
          <p:cNvSpPr/>
          <p:nvPr/>
        </p:nvSpPr>
        <p:spPr>
          <a:xfrm>
            <a:off x="7543800" y="342000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~12 mA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56"/>
          <p:cNvSpPr/>
          <p:nvPr/>
        </p:nvSpPr>
        <p:spPr>
          <a:xfrm>
            <a:off x="4663440" y="3803760"/>
            <a:ext cx="4022640" cy="346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DEC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7"/>
          <p:cNvSpPr/>
          <p:nvPr/>
        </p:nvSpPr>
        <p:spPr>
          <a:xfrm>
            <a:off x="4709160" y="380376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EEPROM write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58"/>
          <p:cNvSpPr/>
          <p:nvPr/>
        </p:nvSpPr>
        <p:spPr>
          <a:xfrm>
            <a:off x="6537960" y="380376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~3.4 ms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59"/>
          <p:cNvSpPr/>
          <p:nvPr/>
        </p:nvSpPr>
        <p:spPr>
          <a:xfrm>
            <a:off x="7543800" y="380376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1B2A"/>
                </a:solidFill>
                <a:effectLst/>
                <a:uFillTx/>
                <a:latin typeface="Calibri"/>
                <a:ea typeface="Calibri"/>
              </a:rPr>
              <a:t>~5 mA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60"/>
          <p:cNvSpPr/>
          <p:nvPr/>
        </p:nvSpPr>
        <p:spPr>
          <a:xfrm>
            <a:off x="4663440" y="4187880"/>
            <a:ext cx="4022640" cy="346680"/>
          </a:xfrm>
          <a:prstGeom prst="roundRect">
            <a:avLst>
              <a:gd name="adj" fmla="val 15789"/>
            </a:avLst>
          </a:prstGeom>
          <a:solidFill>
            <a:srgbClr val="D0E8FF"/>
          </a:solidFill>
          <a:ln w="12700">
            <a:solidFill>
              <a:srgbClr val="0070C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61"/>
          <p:cNvSpPr/>
          <p:nvPr/>
        </p:nvSpPr>
        <p:spPr>
          <a:xfrm>
            <a:off x="4709160" y="4187880"/>
            <a:ext cx="18280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70C0"/>
                </a:solidFill>
                <a:effectLst/>
                <a:uFillTx/>
                <a:latin typeface="Calibri"/>
                <a:ea typeface="Calibri"/>
              </a:rPr>
              <a:t>Average current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62"/>
          <p:cNvSpPr/>
          <p:nvPr/>
        </p:nvSpPr>
        <p:spPr>
          <a:xfrm>
            <a:off x="6537960" y="4187880"/>
            <a:ext cx="10051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whole minute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63"/>
          <p:cNvSpPr/>
          <p:nvPr/>
        </p:nvSpPr>
        <p:spPr>
          <a:xfrm>
            <a:off x="7543800" y="4187880"/>
            <a:ext cx="109656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70C0"/>
                </a:solidFill>
                <a:effectLst/>
                <a:uFillTx/>
                <a:latin typeface="Calibri"/>
                <a:ea typeface="Calibri"/>
              </a:rPr>
              <a:t>~100 µA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4"/>
          <p:cNvSpPr/>
          <p:nvPr/>
        </p:nvSpPr>
        <p:spPr>
          <a:xfrm>
            <a:off x="4572000" y="4645080"/>
            <a:ext cx="429696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070C0"/>
                </a:solidFill>
                <a:effectLst/>
                <a:uFillTx/>
                <a:latin typeface="Calibri"/>
                <a:ea typeface="Calibri"/>
              </a:rPr>
              <a:t>≈ 10,000 hours (1 yr+) on a 1000 mAh battery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0"/>
          <p:cNvSpPr/>
          <p:nvPr/>
        </p:nvSpPr>
        <p:spPr>
          <a:xfrm>
            <a:off x="0" y="0"/>
            <a:ext cx="9143280" cy="45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"/>
          <p:cNvSpPr/>
          <p:nvPr/>
        </p:nvSpPr>
        <p:spPr>
          <a:xfrm>
            <a:off x="457200" y="274320"/>
            <a:ext cx="8228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Project Complete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"/>
          <p:cNvSpPr/>
          <p:nvPr/>
        </p:nvSpPr>
        <p:spPr>
          <a:xfrm>
            <a:off x="457200" y="685800"/>
            <a:ext cx="731448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Asynchronous Timer2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Low-Power Timekeeping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3"/>
          <p:cNvSpPr/>
          <p:nvPr/>
        </p:nvSpPr>
        <p:spPr>
          <a:xfrm>
            <a:off x="457200" y="1965960"/>
            <a:ext cx="1370880" cy="450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4"/>
          <p:cNvSpPr/>
          <p:nvPr/>
        </p:nvSpPr>
        <p:spPr>
          <a:xfrm>
            <a:off x="320040" y="2194560"/>
            <a:ext cx="2010960" cy="2285280"/>
          </a:xfrm>
          <a:prstGeom prst="roundRect">
            <a:avLst>
              <a:gd name="adj" fmla="val 5455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9" name="Image 0" descr="preencoded.png"/>
          <p:cNvPicPr/>
          <p:nvPr/>
        </p:nvPicPr>
        <p:blipFill>
          <a:blip r:embed="rId1"/>
          <a:stretch/>
        </p:blipFill>
        <p:spPr>
          <a:xfrm>
            <a:off x="1051560" y="233172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0" name="Text 5"/>
          <p:cNvSpPr/>
          <p:nvPr/>
        </p:nvSpPr>
        <p:spPr>
          <a:xfrm>
            <a:off x="365760" y="292608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KiCad Schematic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6"/>
          <p:cNvSpPr/>
          <p:nvPr/>
        </p:nvSpPr>
        <p:spPr>
          <a:xfrm>
            <a:off x="411480" y="333756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Crystal on TOSC1/TOSC2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All net labels present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ERC: 0 errors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7"/>
          <p:cNvSpPr/>
          <p:nvPr/>
        </p:nvSpPr>
        <p:spPr>
          <a:xfrm>
            <a:off x="2514600" y="2194560"/>
            <a:ext cx="2010960" cy="2285280"/>
          </a:xfrm>
          <a:prstGeom prst="roundRect">
            <a:avLst>
              <a:gd name="adj" fmla="val 5455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3" name="Image 1" descr="preencoded.png"/>
          <p:cNvPicPr/>
          <p:nvPr/>
        </p:nvPicPr>
        <p:blipFill>
          <a:blip r:embed="rId2"/>
          <a:stretch/>
        </p:blipFill>
        <p:spPr>
          <a:xfrm>
            <a:off x="3246120" y="233172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4" name="Text 8"/>
          <p:cNvSpPr/>
          <p:nvPr/>
        </p:nvSpPr>
        <p:spPr>
          <a:xfrm>
            <a:off x="2560320" y="292608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Firmware (C)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9"/>
          <p:cNvSpPr/>
          <p:nvPr/>
        </p:nvSpPr>
        <p:spPr>
          <a:xfrm>
            <a:off x="2606040" y="333756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Async Timer2 ISR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Power-Save sleep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SimulIDE fallback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0"/>
          <p:cNvSpPr/>
          <p:nvPr/>
        </p:nvSpPr>
        <p:spPr>
          <a:xfrm>
            <a:off x="4709160" y="2194560"/>
            <a:ext cx="2010960" cy="2285280"/>
          </a:xfrm>
          <a:prstGeom prst="roundRect">
            <a:avLst>
              <a:gd name="adj" fmla="val 5455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67" name="Image 2" descr="preencoded.png"/>
          <p:cNvPicPr/>
          <p:nvPr/>
        </p:nvPicPr>
        <p:blipFill>
          <a:blip r:embed="rId3"/>
          <a:stretch/>
        </p:blipFill>
        <p:spPr>
          <a:xfrm>
            <a:off x="5440680" y="233172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8" name="Text 11"/>
          <p:cNvSpPr/>
          <p:nvPr/>
        </p:nvSpPr>
        <p:spPr>
          <a:xfrm>
            <a:off x="4754880" y="292608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SimulIDE Verified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2"/>
          <p:cNvSpPr/>
          <p:nvPr/>
        </p:nvSpPr>
        <p:spPr>
          <a:xfrm>
            <a:off x="4800600" y="333756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6/6 test cases PASS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Bug root-causes documented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Fallback path working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3"/>
          <p:cNvSpPr/>
          <p:nvPr/>
        </p:nvSpPr>
        <p:spPr>
          <a:xfrm>
            <a:off x="6903720" y="2194560"/>
            <a:ext cx="2010960" cy="2285280"/>
          </a:xfrm>
          <a:prstGeom prst="roundRect">
            <a:avLst>
              <a:gd name="adj" fmla="val 5455"/>
            </a:avLst>
          </a:prstGeom>
          <a:solidFill>
            <a:srgbClr val="1E3A5F"/>
          </a:solidFill>
          <a:ln w="12700">
            <a:solidFill>
              <a:srgbClr val="00B4D8"/>
            </a:solidFill>
            <a:round/>
          </a:ln>
          <a:effectLst>
            <a:outerShdw algn="bl" blurRad="127080" dir="2700000" dist="49893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1" name="Image 3" descr="preencoded.png"/>
          <p:cNvPicPr/>
          <p:nvPr/>
        </p:nvPicPr>
        <p:blipFill>
          <a:blip r:embed="rId4"/>
          <a:stretch/>
        </p:blipFill>
        <p:spPr>
          <a:xfrm>
            <a:off x="7635240" y="2331720"/>
            <a:ext cx="502200" cy="50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Text 14"/>
          <p:cNvSpPr/>
          <p:nvPr/>
        </p:nvSpPr>
        <p:spPr>
          <a:xfrm>
            <a:off x="6949440" y="2926080"/>
            <a:ext cx="19195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0B4D8"/>
                </a:solidFill>
                <a:effectLst/>
                <a:uFillTx/>
                <a:latin typeface="Calibri"/>
                <a:ea typeface="Calibri"/>
              </a:rPr>
              <a:t>KiCad PCB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5"/>
          <p:cNvSpPr/>
          <p:nvPr/>
        </p:nvSpPr>
        <p:spPr>
          <a:xfrm>
            <a:off x="6995160" y="3337560"/>
            <a:ext cx="18280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Crystal near TOSC pins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Noise separation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F4F8"/>
                </a:solidFill>
                <a:effectLst/>
                <a:uFillTx/>
                <a:latin typeface="Calibri"/>
                <a:ea typeface="Calibri"/>
              </a:rPr>
              <a:t>DRC: 0 violations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6"/>
          <p:cNvSpPr/>
          <p:nvPr/>
        </p:nvSpPr>
        <p:spPr>
          <a:xfrm>
            <a:off x="274320" y="4663440"/>
            <a:ext cx="8594640" cy="410760"/>
          </a:xfrm>
          <a:prstGeom prst="roundRect">
            <a:avLst>
              <a:gd name="adj" fmla="val 17778"/>
            </a:avLst>
          </a:prstGeom>
          <a:solidFill>
            <a:srgbClr val="1A2E45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7"/>
          <p:cNvSpPr/>
          <p:nvPr/>
        </p:nvSpPr>
        <p:spPr>
          <a:xfrm>
            <a:off x="274320" y="4663440"/>
            <a:ext cx="859464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FB3CC"/>
                </a:solidFill>
                <a:effectLst/>
                <a:uFillTx/>
                <a:latin typeface="Calibri"/>
                <a:ea typeface="Calibri"/>
              </a:rPr>
              <a:t>GitHub: ATmega32_Asynchronous_Timer2_Timekeeping  ·  [ insert repository URL 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8"/>
          <p:cNvSpPr/>
          <p:nvPr/>
        </p:nvSpPr>
        <p:spPr>
          <a:xfrm>
            <a:off x="0" y="5093280"/>
            <a:ext cx="9143280" cy="49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LibreOffice/26.2.4.2$Linux_X86_64 LibreOffice_project/620$Build-2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2026-07-01T09:32:10Z</dcterms:created>
  <dc:creator>PptxGenJS</dc:creator>
  <dc:description/>
  <dc:language>en-US</dc:language>
  <cp:lastModifiedBy/>
  <dcterms:modified xsi:type="dcterms:W3CDTF">2026-07-06T10:26:21Z</dcterms:modified>
  <cp:revision>3</cp:revision>
  <dc:subject>PptxGenJS Presentation</dc:subject>
  <dc:title>Project 13 – Asynchronous Timer2 Low-Power Timekeeping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