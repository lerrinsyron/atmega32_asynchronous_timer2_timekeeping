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low-power timekeeping using ATmega32 Timer2 in asynchronous mode with a 32.768 kHz watch crystal. The big idea is that Timer2 can run from its own independent clock while the CPU sleeps.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insight: every battery-powered clock needs a way to keep time while the main processor sleeps. The 32.768 kHz crystal is used because it's 2^15 Hz — binary division to exactly 1 Hz with zero rounding error. Timer2 can be wired to this crystal independently of the CPU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Timer0 and Timer1 always use the CPU clock. Timer2 is special — setting AS2 in ASSR disconnects it from the CPU clock and connects it to whatever crystal you put on TOSC1/TOSC2 pins. This is the hardware feature at the heart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system architecture. Key point: the 32.768 kHz crystal feeds ONLY Timer2 via TOSC1/TOSC2 pins. The CPU wakes once per second, does its work in under a millisecond, then sleeps again. This is what makes the system low-power.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math. Timer2 has 256 counts before overflow. 32768 ÷ 256 = 128 exactly. So prescaler /128 gives exactly one overflow per second with no rounding error ever. The load capacitors must match the crystal's datasheet spec (typically 7-12 pF for watch crystals).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schematic has all five required net labels: TOSC1_32768HZ, TOSC2_32768HZ, WAKE_LED, ALARM_BUZZER, SET_ALARM_BTN. The PCB follows the crystal placement rules: crystal close to TOSC pins, load caps adjacent, TOSC traces away from switching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ISR is the heart of the firmware. It fires exactly once per second (on real hardware). Inside it: increment the clock, check for 10-second LED toggle, check alarm condition, manage buzzer countdown, then set the flag that wakes the main loop to print to serial.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non-obvious implementation details. First: the ASSR busy flags MUST be waited on after any Timer2 register write — skipping this is a silent bug. Second: Power-Save stops the synchronous clock, which is perfect for the real hardware path but breaks the SimulIDE fallback that uses the synchronous clock for Timer2.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bugs that had to be understood and fixed for the SimulIDE simulation to work. The firmware has two compile-time paths. Everything the user sees — clock counting, alarm, LED, buzzer, buttons — is identical. Only the clock source and sleep depth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test cases passed. TC-06 is documented rather than a traditional pass/fail since SimulIDE doesn't fully model sleep modes — the workaround (SLEEP_MODE_IDLE in simulation) is explained and justified.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takeaways from the project. Most important: Timer2's unique async capability is the enabler for everything else. The register sync and sleep mode mechanics are the two 'gotchas' that separate a working implementation from a subtly broken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extension task. The base system already has the infrastructure: Timer2 fires every second. Adding a log_countdown counter means every 60 seconds you enable the ADC, read a sensor, write 10 bytes to EEPROM, and go back to sleep. The power impact is minimal.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Summarise the four deliverables. The project demonstrates a complete embedded systems design cycle: concept → schematic → PCB → firmware → simulation → documentation. The GitHub repository link goes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3200400" cy="50977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48640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0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17520"/>
            <a:ext cx="457200" cy="4572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40480"/>
            <a:ext cx="457200" cy="4572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005840" y="557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MCU</a:t>
            </a:r>
            <a:endParaRPr lang="en-US" sz="1100" dirty="0"/>
          </a:p>
        </p:txBody>
      </p:sp>
      <p:sp>
        <p:nvSpPr>
          <p:cNvPr id="10" name="Text 3"/>
          <p:cNvSpPr/>
          <p:nvPr/>
        </p:nvSpPr>
        <p:spPr>
          <a:xfrm>
            <a:off x="1005840" y="786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MHz internal RC</a:t>
            </a:r>
            <a:endParaRPr lang="en-US" sz="1000" dirty="0"/>
          </a:p>
        </p:txBody>
      </p:sp>
      <p:sp>
        <p:nvSpPr>
          <p:cNvPr id="11" name="Text 4"/>
          <p:cNvSpPr/>
          <p:nvPr/>
        </p:nvSpPr>
        <p:spPr>
          <a:xfrm>
            <a:off x="1005840" y="13807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32.768 kHz Crystal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1005840" y="1609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TOSC1 / TOSC2</a:t>
            </a:r>
            <a:endParaRPr lang="en-US" sz="1000" dirty="0"/>
          </a:p>
        </p:txBody>
      </p:sp>
      <p:sp>
        <p:nvSpPr>
          <p:cNvPr id="13" name="Text 6"/>
          <p:cNvSpPr/>
          <p:nvPr/>
        </p:nvSpPr>
        <p:spPr>
          <a:xfrm>
            <a:off x="1005840" y="22037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Power-Save Sleep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1005840" y="24323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µA-level idle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1005840" y="30266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Async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1005840" y="3255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1-second ISR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1005840" y="38496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C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005840" y="4078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AVR-GCC firmware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474720" y="457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13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3474720" y="9144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 Timer2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Low-Power Timekeeping</a:t>
            </a:r>
            <a:endParaRPr lang="en-US" sz="3400" dirty="0"/>
          </a:p>
        </p:txBody>
      </p:sp>
      <p:sp>
        <p:nvSpPr>
          <p:cNvPr id="21" name="Shape 14"/>
          <p:cNvSpPr/>
          <p:nvPr/>
        </p:nvSpPr>
        <p:spPr>
          <a:xfrm>
            <a:off x="3474720" y="2514600"/>
            <a:ext cx="914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474720" y="2697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Microcontroller  ·  32.768 kHz Watch Crystal  ·  Power-Save Sleep Mode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47472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Simulation  ·  KiCad Schematic &amp; PCB  ·  MPLAB for VS Code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474720" y="40233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47472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669280" y="40233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66928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devices need to keep time 24/7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at 8 MHz draws 8–12 mA constantly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timers drift when CPU is busy or interrupted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battery life instead of months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2286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937760" y="96012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97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166360" y="16916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runs from a 32.768 kHz watch crystal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is completely independent from the CPU clock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sleeps in Power-Save mode — wakes once per second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current drops to ~100 µA → months of battery life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371600" y="4526280"/>
            <a:ext cx="640080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0" y="4526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32.768 kHz crystal = 2¹⁵ Hz → divides to exactly 1 Hz with no rounding error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Timer2 Async Mode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743200" cy="3108960"/>
          </a:xfrm>
          <a:prstGeom prst="roundRect">
            <a:avLst>
              <a:gd name="adj" fmla="val 4667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051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Clock Domain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17627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MHz internal RC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CPU, Timer0, Timer1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during Power-Save sleep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914400"/>
            <a:ext cx="2743200" cy="3108960"/>
          </a:xfrm>
          <a:prstGeom prst="roundRect">
            <a:avLst>
              <a:gd name="adj" fmla="val 4667"/>
            </a:avLst>
          </a:prstGeom>
          <a:solidFill>
            <a:srgbClr val="0A3D6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0515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Async Domain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74720" y="217627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32.768 kHz TOSC crystal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Timer2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stops — even while CPU sleeps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914400"/>
            <a:ext cx="2743200" cy="3108960"/>
          </a:xfrm>
          <a:prstGeom prst="roundRect">
            <a:avLst>
              <a:gd name="adj" fmla="val 4667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0515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Power-Save Sleep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92240" y="217627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halts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clocks stop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async Timer2 stays alive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127248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144768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914400" y="420624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register: </a:t>
            </a:r>
            <a:pPr algn="ctr" indent="0" marL="0">
              <a:buNone/>
            </a:pPr>
            <a:r>
              <a:rPr lang="en-US" sz="13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ASSR |= (1 &lt;&lt; AS2)</a:t>
            </a:r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switches Timer2 from CPU clock to TOSC1/TOSC2 pins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32.768 kHz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Crystal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(TOSC1/TOSC2)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65960" y="141732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clk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A3D6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058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÷128 → 1s OVF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417320"/>
            <a:ext cx="411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097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0" y="86868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868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CPU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MHz internal RC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(Power-Save sleep)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097280"/>
            <a:ext cx="3657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91440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E8FFF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914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PB0 → LED (330Ω) · Wake every 10s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46304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444752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444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PB1 → Buzzer · Alarm for 3s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14884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F0F4FF"/>
          </a:solidFill>
          <a:ln w="12700">
            <a:solidFill>
              <a:srgbClr val="7CB4D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(active-LOW + internal pull-ups)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PA0: Reset time  ·  PA1: Set alarm mode  ·  PA2: Increment field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2148840"/>
            <a:ext cx="0" cy="-274320"/>
          </a:xfrm>
          <a:prstGeom prst="line">
            <a:avLst/>
          </a:prstGeom>
          <a:noFill/>
          <a:ln w="25400">
            <a:solidFill>
              <a:srgbClr val="7CB4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1874520"/>
            <a:ext cx="2743200" cy="0"/>
          </a:xfrm>
          <a:prstGeom prst="line">
            <a:avLst/>
          </a:prstGeom>
          <a:noFill/>
          <a:ln w="25400">
            <a:solidFill>
              <a:srgbClr val="7CB4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874520"/>
            <a:ext cx="0" cy="91440"/>
          </a:xfrm>
          <a:prstGeom prst="line">
            <a:avLst/>
          </a:prstGeom>
          <a:noFill/>
          <a:ln w="25400">
            <a:solidFill>
              <a:srgbClr val="7CB4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148840"/>
            <a:ext cx="4206240" cy="640080"/>
          </a:xfrm>
          <a:prstGeom prst="roundRect">
            <a:avLst>
              <a:gd name="adj" fmla="val 14286"/>
            </a:avLst>
          </a:prstGeom>
          <a:solidFill>
            <a:srgbClr val="F5F0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2148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PD1 → SerialTerm @ 9600 baud 8N1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HH:MM:SS  ·  ALRM: HH:MM:SS  ·  MODE: LOW POWER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2148840"/>
            <a:ext cx="0" cy="-182880"/>
          </a:xfrm>
          <a:prstGeom prst="line">
            <a:avLst/>
          </a:prstGeom>
          <a:noFill/>
          <a:ln w="254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017520"/>
            <a:ext cx="8595360" cy="178308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Power-Save Sleep Cycle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493008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0A3D6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93008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wakes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(ISR fires)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3886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874520" y="3493008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1A2E45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74520" y="3493008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clock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alarm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LED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3886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91840" y="3493008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1A2E45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493008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flag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26280" y="3886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09160" y="3493008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1A2E45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493008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display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886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26480" y="3493008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1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493008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enter_sleep()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halts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60920" y="3886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543800" y="3493008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1A2E45"/>
          </a:solidFill>
          <a:ln w="12700">
            <a:solidFill>
              <a:srgbClr val="7FB3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43800" y="3493008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second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47365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repeats every second  (CPU active &lt;1ms out of 1000ms)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Timer2 Timing Calculation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560320" cy="393192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32768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2¹⁵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30175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frequency that divides to exactly 1 Hz using binary prescalers alone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00584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42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frequency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13167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f_TOSC = 32,768 Hz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755648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7922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is 8-bit → counts 0–255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20665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counts per overflow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2505456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542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Prescaler needed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4680" y="2816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32768 ÷ 256 = 128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17520" y="3255264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291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TCCR2 bits CS2[2:0]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566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0b101  (prescaler /128)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4005072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0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041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period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315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(256 × 128) ÷ 32768 = 1.000 s  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17520" y="4663440"/>
            <a:ext cx="5760720" cy="36576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4663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caps C1 &amp; C2 = 12 pF match the crystal's specified load capacitance for stable oscillation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KiCad Schematic &amp; PCB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8FBFF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Schematic Screenshot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 — KiCad Schematic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2926080"/>
          </a:xfrm>
          <a:prstGeom prst="roundRect">
            <a:avLst>
              <a:gd name="adj" fmla="val 3125"/>
            </a:avLst>
          </a:prstGeom>
          <a:solidFill>
            <a:srgbClr val="F8FBFF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144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PCB 3D Render 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3886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3.4 — KiCad 3D PCB Render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251960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519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ERC: 0 errors  ·  DRC: 0 violations  ·  Gerber files generated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94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Y1 placed as close as possible to PC6/PC7 — minimises TOSC trace length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794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C1 &amp; C2 (12 pF) immediately adjacent to crystal — short GND routes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3794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TOSC1/TOSC2 traces routed away from buzzer/LED switching outputs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Firmware: The Heart — Timer2 ISR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0A162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8463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(TIMER2_OVF_vect)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g_seconds++;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8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roll over at 60/60/24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(g_seconds % 10 ==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8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PORTB ^= (1&lt;&lt;PB0);  // toggle 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(time == alarm_time)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8B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PORTB |= (1&lt;&lt;PB1);  // buzzer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g_buzz_countdown = 3;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g_time_updated =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40680" y="960120"/>
            <a:ext cx="347472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8112" y="960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70448" y="960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exactly once per second — no drift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1481328"/>
            <a:ext cx="347472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14813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70448" y="1481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seconds → minutes → hours with midnight rollover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2002536"/>
            <a:ext cx="347472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20025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70448" y="2002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 PB0 (LED) every WAKEUP_INTERVAL=10 seconds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2523744"/>
            <a:ext cx="347472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5237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70448" y="2523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buzzer (PB1) for ALARM_BUZZ_DURATION=3s on alarm match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3044952"/>
            <a:ext cx="347472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0449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70448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g_time_updated flag — wakes main loop to refresh serial output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0680" y="3566160"/>
            <a:ext cx="347472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70448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volatile — modified in ISR, read in main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4087368"/>
            <a:ext cx="347472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4087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70448" y="4087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cli()/sei() around multi-byte reads to prevent torn reads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Critical Details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FFFDF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Register Sync (MANDATORY)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registers cross two clock domains.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writing, you MUST wait for ASSR busy flags to clear: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24028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(ASSR &amp; (TCN2UB|OCR2UB|TCR2UB));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97180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this loop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silently corrupts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configuration — no error, no warning, just a timer that doesn't work correctly. The ATmega32 datasheet mandates this wait.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914400"/>
            <a:ext cx="4297680" cy="3931920"/>
          </a:xfrm>
          <a:prstGeom prst="roundRect">
            <a:avLst>
              <a:gd name="adj" fmla="val 2791"/>
            </a:avLst>
          </a:prstGeom>
          <a:solidFill>
            <a:srgbClr val="F0F4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515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Mode Selection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16459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9160" y="16916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09160" y="1691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63440" y="2084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SLEEP_MODE_PWR_SAVE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663440" y="24231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CPU + sync clocks.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Timer2 keeps running from crystal.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3383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09160" y="34290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09160" y="3429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fallback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663440" y="3822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SLEEP_MODE_IDLE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663440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only CPU.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sync clocks — needed for CTC fallback.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SimulIDE: Limitation &amp; Fallback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2A1A0A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SimulIDE Cannot Model TOSC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508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SIMULIDE_MODE flag:
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Timer2 waits for crystal that never starts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ASSR busy flags never 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enter_sleep() → CPU parks permanently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Serial output stops after one line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914400"/>
            <a:ext cx="4297680" cy="2103120"/>
          </a:xfrm>
          <a:prstGeom prst="roundRect">
            <a:avLst>
              <a:gd name="adj" fmla="val 5217"/>
            </a:avLst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SIMULIDE_MODE Fallback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63440" y="15087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with:  </a:t>
            </a:r>
            <a:pPr indent="0" marL="0">
              <a:buNone/>
            </a:pPr>
            <a:r>
              <a:rPr lang="en-US" sz="1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simulide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Timer2 → CTC mode, internal 8 MHz clock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OCR2=77, /1024 → ~100 ticks/second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ISR accumulates 100 ticks = 1 second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SLEEP_MODE_IDLE keeps sync clock alive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3154680"/>
            <a:ext cx="8595360" cy="1691640"/>
          </a:xfrm>
          <a:prstGeom prst="roundRect">
            <a:avLst>
              <a:gd name="adj" fmla="val 5405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 vs. what stays the same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0040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160520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62940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Fallback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0040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clock source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16052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32.768 kHz TOSC crystal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2940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MHz internal CPU clock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2004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mode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160520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(overflow)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940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(compare match)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20040" y="4389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mode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16052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SLEEP_MODE_PWR_SAVE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629400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SLEEP_MODE_IDLE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20040" y="4663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logic (clock/alarm/LED/buzzer/USART/buttons)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160520" y="4663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IDENTICAL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629400" y="4663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IDENTICAL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8FBFF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TC-01: Boot + 00:00:00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initialises correctly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8FBFF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TC-02: Seconds increment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counting in real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8FBFF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TC-04: SET ALARM 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set and buzzer fires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005072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0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2976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/ Reset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47088" y="4005072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0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47088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47088" y="42976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counts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82696" y="4005072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0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82696" y="42976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heartbeat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18304" y="4005072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0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18304" y="42976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/ buzzer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53912" y="4005072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0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53912" y="42976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button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89520" y="4005072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0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4005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42976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(docs)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 Outcomes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42416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" y="10241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2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Peripheral Operation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19385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 is unique among ATmega32 timers — only it can be decoupled from the CPU clock via TOSC pins. This decoupling enables hardware timekeeping independent of CPU state.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241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042416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13248" y="10241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2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13248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4632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Domain Crossing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46320" y="19385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that cross clock domains require explicit synchronisation. The ASSR busy-flag wait loop is mandatory; skipping it produces a silent, hard-to-diagnose bug.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28803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9900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008376"/>
            <a:ext cx="457200" cy="4572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32688" y="29900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2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3268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6576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Mode Mechanics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5760" y="39044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SLEEP_MODE_PWR_SAVE stops all synchronous clocks but preserves the async Timer2 domain. Pairing it with a synchronous-clocked Timer2 (fallback) creates a deadlock — the correct fix is SLEEP_MODE_IDLE.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54880" y="28803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46320" y="29900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008376"/>
            <a:ext cx="457200" cy="4572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413248" y="29900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2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1324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484632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USART Baud Rate Sensitivity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846320" y="39044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UBRR is computed from F_CPU. A MCU clock mismatch between firmware and simulator (16 MHz vs 8 MHz) garbles every byte. Matching both values is the first debug step for garbled serial.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Sensor Logging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36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base system: wake every N seconds → read ADC sensor → log to EEPROM → sleep again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0D3349"/>
          </a:solidFill>
          <a:ln w="12700">
            <a:solidFill>
              <a:srgbClr val="7FB3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6187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Power-Save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417320"/>
            <a:ext cx="109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27048" y="126187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0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126187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0048" y="1417320"/>
            <a:ext cx="109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79776" y="126187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0D3349"/>
          </a:solidFill>
          <a:ln w="12700">
            <a:solidFill>
              <a:srgbClr val="7FB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9776" y="126187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ISR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(clock/alarm)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22776" y="1417320"/>
            <a:ext cx="109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32504" y="126187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0A3D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126187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60s: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g_log_pending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75504" y="1417320"/>
            <a:ext cx="109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85232" y="126187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0A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26187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(sensor value)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28232" y="1417320"/>
            <a:ext cx="109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126187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0A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26187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1417320"/>
            <a:ext cx="109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90688" y="126187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0D334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0688" y="126187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148840"/>
            <a:ext cx="4114800" cy="2606040"/>
          </a:xfrm>
          <a:prstGeom prst="roundRect">
            <a:avLst>
              <a:gd name="adj" fmla="val 4211"/>
            </a:avLst>
          </a:prstGeom>
          <a:solidFill>
            <a:srgbClr val="F0F7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EEPROM Log Record (10 bytes)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65176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(0–23)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035808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0358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37360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(0–59)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419856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4198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37360" y="3419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(0–59)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803904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803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3–4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737360" y="38039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value (0–1023, 10-bit)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187952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87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5–9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737360" y="4187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/ checksum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2148840"/>
            <a:ext cx="4297680" cy="2606040"/>
          </a:xfrm>
          <a:prstGeom prst="roundRect">
            <a:avLst>
              <a:gd name="adj" fmla="val 4211"/>
            </a:avLst>
          </a:prstGeom>
          <a:solidFill>
            <a:srgbClr val="F0F7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240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Budget (60s log interval)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663440" y="265176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DEC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Power-Save sleep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3796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~59.9 s / min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43800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µA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303580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DEC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035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(1s × 60)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37960" y="30358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µs × 60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543800" y="30358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mA (brief)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3419856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DEC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+ USART log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37960" y="34198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543800" y="34198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3803904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DEC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3803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write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37960" y="3803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~3.4 ms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543800" y="38039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mA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663440" y="4187952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D0E8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4187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current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537960" y="41879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minute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543800" y="4187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µA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0" y="4645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10,000 hours (1 yr+) on a 1000 mAh battery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 Timer2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Low-Power Timekeeping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Schematic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33375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on TOSC1/TOSC2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net labels present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ERC: 0 errors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331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(C)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6040" y="33375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Timer2 ISR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Power-Save sleep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fallback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3317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Verified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00600" y="33375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test cases PASS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root-causes documented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path working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903720" y="219456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3317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PCB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995160" y="33375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near TOSC pins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separation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DRC: 0 violations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74320" y="46634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ATmega32_Asynchronous_Timer2_Timekeeping  ·  [ insert repository URL ]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13 – Asynchronous Timer2 Low-Power Timekeeping</dc:title>
  <dc:subject>PptxGenJS Presentation</dc:subject>
  <dc:creator>PptxGenJS</dc:creator>
  <cp:lastModifiedBy>PptxGenJS</cp:lastModifiedBy>
  <cp:revision>1</cp:revision>
  <dcterms:created xsi:type="dcterms:W3CDTF">2026-07-01T09:32:10Z</dcterms:created>
  <dcterms:modified xsi:type="dcterms:W3CDTF">2026-07-01T09:32:10Z</dcterms:modified>
</cp:coreProperties>
</file>